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512064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6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3F5"/>
    <a:srgbClr val="0E2741"/>
    <a:srgbClr val="FFC000"/>
    <a:srgbClr val="FFF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734"/>
  </p:normalViewPr>
  <p:slideViewPr>
    <p:cSldViewPr snapToGrid="0" showGuides="1">
      <p:cViewPr varScale="1">
        <p:scale>
          <a:sx n="32" d="100"/>
          <a:sy n="32" d="100"/>
        </p:scale>
        <p:origin x="1072" y="224"/>
      </p:cViewPr>
      <p:guideLst>
        <p:guide orient="horz" pos="10368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5387342"/>
            <a:ext cx="38404800" cy="1146048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7289782"/>
            <a:ext cx="38404800" cy="7947658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0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8206745"/>
            <a:ext cx="44165520" cy="13693138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22029425"/>
            <a:ext cx="44165520" cy="7200898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>
                    <a:tint val="82000"/>
                  </a:schemeClr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82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82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8763000"/>
            <a:ext cx="217627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8763000"/>
            <a:ext cx="217627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8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752603"/>
            <a:ext cx="4416552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069582"/>
            <a:ext cx="21662705" cy="395477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2024360"/>
            <a:ext cx="21662705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069582"/>
            <a:ext cx="21769390" cy="395477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2024360"/>
            <a:ext cx="21769390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4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3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2194560"/>
            <a:ext cx="16515395" cy="768096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4739642"/>
            <a:ext cx="25923240" cy="23393400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9875520"/>
            <a:ext cx="16515395" cy="18295622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7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2194560"/>
            <a:ext cx="16515395" cy="768096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4739642"/>
            <a:ext cx="25923240" cy="23393400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9875520"/>
            <a:ext cx="16515395" cy="18295622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1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4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752600"/>
            <a:ext cx="1104138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752600"/>
            <a:ext cx="3248406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6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752603"/>
            <a:ext cx="4416552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8763000"/>
            <a:ext cx="4416552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30510482"/>
            <a:ext cx="115214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68F03-6448-7D4C-AAA0-C6F9C0BF7B3A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30510482"/>
            <a:ext cx="172821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0510482"/>
            <a:ext cx="115214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40AC6-B19E-6D45-9BF6-EED3E7582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3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27.emf"/><Relationship Id="rId50" Type="http://schemas.openxmlformats.org/officeDocument/2006/relationships/image" Target="../media/image4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8.svg"/><Relationship Id="rId32" Type="http://schemas.openxmlformats.org/officeDocument/2006/relationships/image" Target="../media/image31.png"/><Relationship Id="rId37" Type="http://schemas.openxmlformats.org/officeDocument/2006/relationships/image" Target="../media/image9.emf"/><Relationship Id="rId40" Type="http://schemas.openxmlformats.org/officeDocument/2006/relationships/image" Target="../media/image23.png"/><Relationship Id="rId45" Type="http://schemas.openxmlformats.org/officeDocument/2006/relationships/image" Target="../media/image25.emf"/><Relationship Id="rId53" Type="http://schemas.openxmlformats.org/officeDocument/2006/relationships/image" Target="../media/image46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24.emf"/><Relationship Id="rId52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36.png"/><Relationship Id="rId8" Type="http://schemas.openxmlformats.org/officeDocument/2006/relationships/image" Target="../media/image7.png"/><Relationship Id="rId51" Type="http://schemas.openxmlformats.org/officeDocument/2006/relationships/image" Target="../media/image4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26.emf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08ECF1E-01F6-E719-5884-5F1F2148134C}"/>
              </a:ext>
            </a:extLst>
          </p:cNvPr>
          <p:cNvGrpSpPr/>
          <p:nvPr/>
        </p:nvGrpSpPr>
        <p:grpSpPr>
          <a:xfrm>
            <a:off x="-26231" y="-45535"/>
            <a:ext cx="51232631" cy="4822000"/>
            <a:chOff x="-26228" y="-16838981"/>
            <a:chExt cx="51232630" cy="532770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E8F24A1-3C57-47DE-8EB4-D7CCC64734D1}"/>
                </a:ext>
              </a:extLst>
            </p:cNvPr>
            <p:cNvSpPr/>
            <p:nvPr/>
          </p:nvSpPr>
          <p:spPr>
            <a:xfrm>
              <a:off x="-26228" y="-16800098"/>
              <a:ext cx="51232630" cy="5288819"/>
            </a:xfrm>
            <a:prstGeom prst="rect">
              <a:avLst/>
            </a:prstGeom>
            <a:solidFill>
              <a:srgbClr val="2125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045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AC6F11-DCE8-9DFF-98A7-E772319BA445}"/>
                </a:ext>
              </a:extLst>
            </p:cNvPr>
            <p:cNvSpPr txBox="1"/>
            <p:nvPr/>
          </p:nvSpPr>
          <p:spPr>
            <a:xfrm>
              <a:off x="11957199" y="-16800098"/>
              <a:ext cx="33184822" cy="32992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6000" b="1">
                  <a:solidFill>
                    <a:srgbClr val="FFFFFF"/>
                  </a:solidFill>
                </a:defRPr>
              </a:pPr>
              <a:r>
                <a:rPr lang="en-US" sz="8800" dirty="0">
                  <a:solidFill>
                    <a:schemeClr val="bg1"/>
                  </a:solidFill>
                </a:rPr>
                <a:t>Online Distributionally Robust Reinforcement Learning with </a:t>
              </a:r>
              <a:r>
                <a:rPr lang="en-US" sz="8800" dirty="0">
                  <a:ln>
                    <a:solidFill>
                      <a:srgbClr val="FF0000"/>
                    </a:solidFill>
                  </a:ln>
                  <a:solidFill>
                    <a:srgbClr val="FFC906"/>
                  </a:solidFill>
                </a:rPr>
                <a:t>General Function Approximation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EF6053-625F-B88D-6935-307AD23B9ECC}"/>
                </a:ext>
              </a:extLst>
            </p:cNvPr>
            <p:cNvSpPr txBox="1"/>
            <p:nvPr/>
          </p:nvSpPr>
          <p:spPr>
            <a:xfrm>
              <a:off x="13991996" y="-13496295"/>
              <a:ext cx="29115227" cy="1776536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>
                <a:defRPr sz="3200">
                  <a:solidFill>
                    <a:srgbClr val="EBEBEB"/>
                  </a:solidFill>
                </a:defRPr>
              </a:pPr>
              <a:r>
                <a:rPr sz="4800" b="1" dirty="0">
                  <a:ln w="0"/>
                  <a:solidFill>
                    <a:schemeClr val="bg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Debamita Ghosh, George K. Atia, Yue Wang</a:t>
              </a:r>
            </a:p>
            <a:p>
              <a:pPr algn="ctr">
                <a:defRPr sz="2600">
                  <a:solidFill>
                    <a:srgbClr val="EBEBEB"/>
                  </a:solidFill>
                </a:defRPr>
              </a:pPr>
              <a:r>
                <a:rPr sz="4400" i="1" dirty="0">
                  <a:ln w="0"/>
                  <a:solidFill>
                    <a:schemeClr val="bg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Department of Electrical and Computer Engineering, University of Central Florida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6760FC-E640-F61C-F452-0034DC881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28" t="14895" r="11850" b="3331"/>
            <a:stretch>
              <a:fillRect/>
            </a:stretch>
          </p:blipFill>
          <p:spPr>
            <a:xfrm>
              <a:off x="790648" y="-16439865"/>
              <a:ext cx="9131753" cy="409914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51F145C-85FF-8715-48DF-2E9D53F659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916" t="7165" r="26048" b="5598"/>
            <a:stretch>
              <a:fillRect/>
            </a:stretch>
          </p:blipFill>
          <p:spPr>
            <a:xfrm>
              <a:off x="46245352" y="-16838981"/>
              <a:ext cx="4146054" cy="4928789"/>
            </a:xfrm>
            <a:prstGeom prst="rect">
              <a:avLst/>
            </a:prstGeom>
            <a:no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FE8EAA3-70C6-58C5-0C6F-53DA8B2A0393}"/>
              </a:ext>
            </a:extLst>
          </p:cNvPr>
          <p:cNvSpPr/>
          <p:nvPr/>
        </p:nvSpPr>
        <p:spPr>
          <a:xfrm>
            <a:off x="-26230" y="4720477"/>
            <a:ext cx="274320" cy="28197923"/>
          </a:xfrm>
          <a:prstGeom prst="rect">
            <a:avLst/>
          </a:prstGeom>
          <a:solidFill>
            <a:srgbClr val="F79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45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AD3C7F-97DB-3EA2-20E7-AC485402C044}"/>
              </a:ext>
            </a:extLst>
          </p:cNvPr>
          <p:cNvSpPr/>
          <p:nvPr/>
        </p:nvSpPr>
        <p:spPr>
          <a:xfrm>
            <a:off x="50945738" y="4720477"/>
            <a:ext cx="274320" cy="28216970"/>
          </a:xfrm>
          <a:prstGeom prst="rect">
            <a:avLst/>
          </a:prstGeom>
          <a:solidFill>
            <a:srgbClr val="F79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45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E385D-4AC8-F694-E9F9-DB619E4614ED}"/>
              </a:ext>
            </a:extLst>
          </p:cNvPr>
          <p:cNvSpPr/>
          <p:nvPr/>
        </p:nvSpPr>
        <p:spPr>
          <a:xfrm rot="5400000">
            <a:off x="25462095" y="-20741617"/>
            <a:ext cx="274320" cy="51198510"/>
          </a:xfrm>
          <a:prstGeom prst="rect">
            <a:avLst/>
          </a:prstGeom>
          <a:solidFill>
            <a:srgbClr val="F79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45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AE25B4C-478C-4703-6CC4-2D7E436EE343}"/>
              </a:ext>
            </a:extLst>
          </p:cNvPr>
          <p:cNvSpPr/>
          <p:nvPr/>
        </p:nvSpPr>
        <p:spPr>
          <a:xfrm>
            <a:off x="551448" y="5167548"/>
            <a:ext cx="17699492" cy="1124712"/>
          </a:xfrm>
          <a:prstGeom prst="roundRect">
            <a:avLst/>
          </a:prstGeom>
          <a:solidFill>
            <a:srgbClr val="211D20">
              <a:alpha val="7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solidFill>
                  <a:srgbClr val="FFC000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Motivation:</a:t>
            </a:r>
            <a:r>
              <a:rPr lang="en-US" sz="5000" b="1" dirty="0">
                <a:solidFill>
                  <a:schemeClr val="bg1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 Bridging the Sim-to-Real Gap</a:t>
            </a:r>
          </a:p>
        </p:txBody>
      </p: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09620D78-2350-5F58-0DE9-B71E929AE3C7}"/>
              </a:ext>
            </a:extLst>
          </p:cNvPr>
          <p:cNvGrpSpPr/>
          <p:nvPr/>
        </p:nvGrpSpPr>
        <p:grpSpPr>
          <a:xfrm>
            <a:off x="661424" y="6377019"/>
            <a:ext cx="17592810" cy="7379310"/>
            <a:chOff x="519422" y="5958011"/>
            <a:chExt cx="17592810" cy="737931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FBFAE4-DD85-824E-A0C6-1977A20225FA}"/>
                </a:ext>
              </a:extLst>
            </p:cNvPr>
            <p:cNvGrpSpPr/>
            <p:nvPr/>
          </p:nvGrpSpPr>
          <p:grpSpPr>
            <a:xfrm>
              <a:off x="519422" y="6050487"/>
              <a:ext cx="8476397" cy="3630962"/>
              <a:chOff x="6361296" y="1248622"/>
              <a:chExt cx="5560059" cy="2635369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9816443-BFC4-0180-D108-73BD35717D14}"/>
                  </a:ext>
                </a:extLst>
              </p:cNvPr>
              <p:cNvGrpSpPr/>
              <p:nvPr/>
            </p:nvGrpSpPr>
            <p:grpSpPr>
              <a:xfrm>
                <a:off x="6361296" y="1248623"/>
                <a:ext cx="5522730" cy="2635368"/>
                <a:chOff x="5621036" y="7410137"/>
                <a:chExt cx="6252011" cy="3440268"/>
              </a:xfrm>
            </p:grpSpPr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C889FA41-88A4-0AFC-2C05-916AFF9AB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6780" t="3097" r="2499" b="29542"/>
                <a:stretch>
                  <a:fillRect/>
                </a:stretch>
              </p:blipFill>
              <p:spPr>
                <a:xfrm>
                  <a:off x="5705548" y="7410137"/>
                  <a:ext cx="4435008" cy="2714547"/>
                </a:xfrm>
                <a:prstGeom prst="rect">
                  <a:avLst/>
                </a:prstGeom>
              </p:spPr>
            </p:pic>
            <p:sp>
              <p:nvSpPr>
                <p:cNvPr id="49" name="TextBox 96">
                  <a:extLst>
                    <a:ext uri="{FF2B5EF4-FFF2-40B4-BE49-F238E27FC236}">
                      <a16:creationId xmlns:a16="http://schemas.microsoft.com/office/drawing/2014/main" id="{C8AB0DB7-A282-43F8-63AA-A9497CE71649}"/>
                    </a:ext>
                  </a:extLst>
                </p:cNvPr>
                <p:cNvSpPr txBox="1"/>
                <p:nvPr/>
              </p:nvSpPr>
              <p:spPr>
                <a:xfrm>
                  <a:off x="5621036" y="10238018"/>
                  <a:ext cx="6252011" cy="6123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r>
                    <a:rPr lang="en-US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Illustration of a practical problem. </a:t>
                  </a:r>
                  <a:r>
                    <a:rPr lang="en-US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 detector trained only on synthetic images makes errors (red crosses) when deployed in real scenes due to the sim-to-real gap. </a:t>
                  </a:r>
                </a:p>
              </p:txBody>
            </p:sp>
          </p:grpSp>
          <p:sp>
            <p:nvSpPr>
              <p:cNvPr id="46" name="Text 4">
                <a:extLst>
                  <a:ext uri="{FF2B5EF4-FFF2-40B4-BE49-F238E27FC236}">
                    <a16:creationId xmlns:a16="http://schemas.microsoft.com/office/drawing/2014/main" id="{1BF5A8F1-7F8A-581A-BBEA-4A426547812B}"/>
                  </a:ext>
                </a:extLst>
              </p:cNvPr>
              <p:cNvSpPr/>
              <p:nvPr/>
            </p:nvSpPr>
            <p:spPr>
              <a:xfrm>
                <a:off x="8394787" y="1248622"/>
                <a:ext cx="3526568" cy="332011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t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432FF"/>
                    </a:solidFill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nominal training world </a:t>
                </a:r>
                <a:r>
                  <a:rPr lang="en-US" sz="2000" b="1" dirty="0"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(</a:t>
                </a:r>
                <a:r>
                  <a:rPr lang="en-US" sz="2000" b="1" dirty="0">
                    <a:latin typeface="Calibri" panose="020F0502020204030204" pitchFamily="34" charset="0"/>
                    <a:ea typeface="Aptos Display" pitchFamily="34" charset="-122"/>
                    <a:cs typeface="Calibri" panose="020F0502020204030204" pitchFamily="34" charset="0"/>
                  </a:rPr>
                  <a:t>π trained on P*)</a:t>
                </a:r>
                <a:endParaRPr lang="en-US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Text 5">
                <a:extLst>
                  <a:ext uri="{FF2B5EF4-FFF2-40B4-BE49-F238E27FC236}">
                    <a16:creationId xmlns:a16="http://schemas.microsoft.com/office/drawing/2014/main" id="{987DDEFA-A56B-ADB5-DF65-E3F441E14683}"/>
                  </a:ext>
                </a:extLst>
              </p:cNvPr>
              <p:cNvSpPr/>
              <p:nvPr/>
            </p:nvSpPr>
            <p:spPr>
              <a:xfrm>
                <a:off x="10390953" y="2109102"/>
                <a:ext cx="1493074" cy="690491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t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EF4444"/>
                    </a:solidFill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shifted deployment world 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(P* may shift)</a:t>
                </a:r>
                <a:endParaRPr lang="en-US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6054D6-E3D3-A472-D5AB-BC58175735E9}"/>
                </a:ext>
              </a:extLst>
            </p:cNvPr>
            <p:cNvSpPr txBox="1"/>
            <p:nvPr/>
          </p:nvSpPr>
          <p:spPr>
            <a:xfrm>
              <a:off x="535677" y="9754115"/>
              <a:ext cx="17574096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Clr>
                  <a:srgbClr val="0432FF"/>
                </a:buClr>
              </a:pPr>
              <a:r>
                <a:rPr lang="en-US" sz="2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Sim-to-real gap. </a:t>
              </a:r>
              <a:r>
                <a:rPr lang="en-US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Real deployments 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face unpredictable</a:t>
              </a:r>
              <a:r>
                <a:rPr lang="en-US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 noise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, unmodelled</a:t>
              </a:r>
              <a:r>
                <a:rPr lang="en-US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 perturbations 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and even </a:t>
              </a:r>
              <a:r>
                <a:rPr lang="en-US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adversarial attacks 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that are </a:t>
              </a:r>
              <a:r>
                <a:rPr lang="en-US" sz="2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not 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r>
                <a:rPr lang="en-US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captured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 by the </a:t>
              </a:r>
              <a:r>
                <a:rPr lang="en-US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simulator</a:t>
              </a:r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634322-53E1-595D-B848-74AA23AA28D1}"/>
                </a:ext>
              </a:extLst>
            </p:cNvPr>
            <p:cNvSpPr txBox="1"/>
            <p:nvPr/>
          </p:nvSpPr>
          <p:spPr>
            <a:xfrm>
              <a:off x="535677" y="10927085"/>
              <a:ext cx="17574097" cy="553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algn="ctr">
                <a:buClr>
                  <a:srgbClr val="0432FF"/>
                </a:buClr>
              </a:pPr>
              <a:r>
                <a:rPr lang="en-US" sz="30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Policies that look excellent in simulation can </a:t>
              </a:r>
              <a:r>
                <a:rPr lang="en-US" sz="3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fail catastrophically </a:t>
              </a:r>
              <a:r>
                <a:rPr lang="en-US" sz="30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after deployment.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262A20D-443C-3DAD-09EE-8E868FA479DE}"/>
                </a:ext>
              </a:extLst>
            </p:cNvPr>
            <p:cNvGrpSpPr/>
            <p:nvPr/>
          </p:nvGrpSpPr>
          <p:grpSpPr>
            <a:xfrm>
              <a:off x="535677" y="11749267"/>
              <a:ext cx="4971079" cy="1587054"/>
              <a:chOff x="281897" y="5874322"/>
              <a:chExt cx="1901041" cy="2028853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5CB46BA4-AE8E-6563-373A-BE51F5BEE372}"/>
                  </a:ext>
                </a:extLst>
              </p:cNvPr>
              <p:cNvSpPr/>
              <p:nvPr/>
            </p:nvSpPr>
            <p:spPr>
              <a:xfrm>
                <a:off x="281897" y="5874322"/>
                <a:ext cx="1901041" cy="2028853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29419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E51D91-CA2A-85DA-166B-E689ABF7B5B0}"/>
                  </a:ext>
                </a:extLst>
              </p:cNvPr>
              <p:cNvSpPr txBox="1"/>
              <p:nvPr/>
            </p:nvSpPr>
            <p:spPr>
              <a:xfrm>
                <a:off x="296842" y="5905937"/>
                <a:ext cx="1871151" cy="1849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28409E"/>
                    </a:solidFill>
                    <a:latin typeface="Calibri" panose="020F0502020204030204" pitchFamily="34" charset="0"/>
                    <a:ea typeface="Aptos Display" pitchFamily="34" charset="-122"/>
                    <a:cs typeface="Calibri" panose="020F0502020204030204" pitchFamily="34" charset="0"/>
                  </a:rPr>
                  <a:t>Vanilla RL</a:t>
                </a:r>
                <a:endParaRPr lang="en-US" sz="3200" b="1" dirty="0">
                  <a:solidFill>
                    <a:srgbClr val="28409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2800" i="1" dirty="0"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Optimizes expected return under the training dynamics only.</a:t>
                </a:r>
                <a:endParaRPr lang="en-US" sz="2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D4A7096-5E76-63F5-5935-4281E7679965}"/>
                </a:ext>
              </a:extLst>
            </p:cNvPr>
            <p:cNvGrpSpPr/>
            <p:nvPr/>
          </p:nvGrpSpPr>
          <p:grpSpPr>
            <a:xfrm>
              <a:off x="9169944" y="5958011"/>
              <a:ext cx="8939830" cy="3876068"/>
              <a:chOff x="761817" y="7403211"/>
              <a:chExt cx="4813609" cy="24155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EC0B20-A484-6EDE-90FD-0DA0684EDBDE}"/>
                  </a:ext>
                </a:extLst>
              </p:cNvPr>
              <p:cNvSpPr txBox="1"/>
              <p:nvPr/>
            </p:nvSpPr>
            <p:spPr>
              <a:xfrm>
                <a:off x="836285" y="9550197"/>
                <a:ext cx="4739141" cy="268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Environment Disrupted MDP</a:t>
                </a:r>
                <a:endParaRPr lang="en-US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4E0E278-7889-984F-12D3-9C7CF455BB30}"/>
                  </a:ext>
                </a:extLst>
              </p:cNvPr>
              <p:cNvGrpSpPr/>
              <p:nvPr/>
            </p:nvGrpSpPr>
            <p:grpSpPr>
              <a:xfrm>
                <a:off x="761817" y="7403211"/>
                <a:ext cx="4765047" cy="2126549"/>
                <a:chOff x="634786" y="7129144"/>
                <a:chExt cx="5441925" cy="1847706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A16D651-540E-465F-AA1C-5432AD3F0E27}"/>
                    </a:ext>
                  </a:extLst>
                </p:cNvPr>
                <p:cNvGrpSpPr/>
                <p:nvPr/>
              </p:nvGrpSpPr>
              <p:grpSpPr>
                <a:xfrm>
                  <a:off x="634786" y="7129144"/>
                  <a:ext cx="5441925" cy="1847706"/>
                  <a:chOff x="2066188" y="8175044"/>
                  <a:chExt cx="4889953" cy="164898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Alternate Process 27">
                        <a:extLst>
                          <a:ext uri="{FF2B5EF4-FFF2-40B4-BE49-F238E27FC236}">
                            <a16:creationId xmlns:a16="http://schemas.microsoft.com/office/drawing/2014/main" id="{E390852F-B120-5DE1-02F9-499BE33627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7241" y="8180420"/>
                        <a:ext cx="1658900" cy="404232"/>
                      </a:xfrm>
                      <a:prstGeom prst="flowChartAlternateProcess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1">
                        <a:schemeClr val="accent6"/>
                      </a:lnRef>
                      <a:fillRef idx="2">
                        <a:schemeClr val="accent6"/>
                      </a:fillRef>
                      <a:effectRef idx="1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368" b="1" dirty="0"/>
                          <a:t>Nominal Environment </a:t>
                        </a:r>
                        <a14:m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368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368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368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n-US" sz="2368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sub>
                                  <m:sup>
                                    <m:r>
                                      <a:rPr lang="en-US" sz="2368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oMath>
                        </a14:m>
                        <a:endParaRPr lang="en-US" sz="2368" b="1" dirty="0"/>
                      </a:p>
                    </p:txBody>
                  </p:sp>
                </mc:Choice>
                <mc:Fallback xmlns="">
                  <p:sp>
                    <p:nvSpPr>
                      <p:cNvPr id="28" name="Alternate Process 27">
                        <a:extLst>
                          <a:ext uri="{FF2B5EF4-FFF2-40B4-BE49-F238E27FC236}">
                            <a16:creationId xmlns:a16="http://schemas.microsoft.com/office/drawing/2014/main" id="{E390852F-B120-5DE1-02F9-499BE33627D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97241" y="8180420"/>
                        <a:ext cx="1658900" cy="404232"/>
                      </a:xfrm>
                      <a:prstGeom prst="flowChartAlternateProcess">
                        <a:avLst/>
                      </a:prstGeom>
                      <a:blipFill>
                        <a:blip r:embed="rId5"/>
                        <a:stretch>
                          <a:fillRect t="-2941" b="-14706"/>
                        </a:stretch>
                      </a:blipFill>
                      <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Alternate Process 28">
                        <a:extLst>
                          <a:ext uri="{FF2B5EF4-FFF2-40B4-BE49-F238E27FC236}">
                            <a16:creationId xmlns:a16="http://schemas.microsoft.com/office/drawing/2014/main" id="{717B899F-4E39-662F-BF12-63C1DDB7F9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938" y="8175044"/>
                        <a:ext cx="1658900" cy="433403"/>
                      </a:xfrm>
                      <a:prstGeom prst="flowChartAlternateProcess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accent3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6"/>
                      </a:lnRef>
                      <a:fillRef idx="2">
                        <a:schemeClr val="accent6"/>
                      </a:fillRef>
                      <a:effectRef idx="1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368" b="1" dirty="0"/>
                          <a:t>Agent </a:t>
                        </a:r>
                      </a:p>
                      <a:p>
                        <a:pPr algn="ctr"/>
                        <a:r>
                          <a:rPr lang="en-US" sz="2368" b="1" dirty="0"/>
                          <a:t>(</a:t>
                        </a:r>
                        <a:r>
                          <a:rPr lang="en-US" sz="2368" b="1" dirty="0">
                            <a:solidFill>
                              <a:srgbClr val="FF0000"/>
                            </a:solidFill>
                          </a:rPr>
                          <a:t>Policy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368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68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𝛑</m:t>
                                </m:r>
                              </m:e>
                              <m:sub>
                                <m:r>
                                  <a:rPr lang="en-US" sz="2368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</m:sSub>
                          </m:oMath>
                        </a14:m>
                        <a:r>
                          <a:rPr lang="en-US" sz="2368" b="1" dirty="0"/>
                          <a:t>)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9" name="Alternate Process 28">
                        <a:extLst>
                          <a:ext uri="{FF2B5EF4-FFF2-40B4-BE49-F238E27FC236}">
                            <a16:creationId xmlns:a16="http://schemas.microsoft.com/office/drawing/2014/main" id="{717B899F-4E39-662F-BF12-63C1DDB7F9A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52938" y="8175044"/>
                        <a:ext cx="1658900" cy="433403"/>
                      </a:xfrm>
                      <a:prstGeom prst="flowChartAlternateProcess">
                        <a:avLst/>
                      </a:prstGeom>
                      <a:blipFill>
                        <a:blip r:embed="rId6"/>
                        <a:stretch>
                          <a:fillRect b="-9589"/>
                        </a:stretch>
                      </a:blipFill>
                      <a:ln>
                        <a:solidFill>
                          <a:schemeClr val="accent3">
                            <a:lumMod val="7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0" name="Alternate Process 29">
                    <a:extLst>
                      <a:ext uri="{FF2B5EF4-FFF2-40B4-BE49-F238E27FC236}">
                        <a16:creationId xmlns:a16="http://schemas.microsoft.com/office/drawing/2014/main" id="{4D3C9A54-65C0-6B9F-AA3C-445DC602B2CC}"/>
                      </a:ext>
                    </a:extLst>
                  </p:cNvPr>
                  <p:cNvSpPr/>
                  <p:nvPr/>
                </p:nvSpPr>
                <p:spPr>
                  <a:xfrm>
                    <a:off x="5299071" y="9278546"/>
                    <a:ext cx="1657070" cy="406520"/>
                  </a:xfrm>
                  <a:prstGeom prst="flowChartAlternateProcess">
                    <a:avLst/>
                  </a:prstGeom>
                  <a:ln/>
                </p:spPr>
                <p:style>
                  <a:lnRef idx="2">
                    <a:schemeClr val="accent6">
                      <a:shade val="15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368" b="1" dirty="0"/>
                      <a:t>Dynamic Perturbation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Alternate Process 30">
                        <a:extLst>
                          <a:ext uri="{FF2B5EF4-FFF2-40B4-BE49-F238E27FC236}">
                            <a16:creationId xmlns:a16="http://schemas.microsoft.com/office/drawing/2014/main" id="{6989CDFA-E3D8-5414-2C3B-7F86804676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38782" y="9275686"/>
                        <a:ext cx="1657070" cy="406520"/>
                      </a:xfrm>
                      <a:prstGeom prst="flowChartAlternateProcess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1">
                        <a:schemeClr val="accent6"/>
                      </a:lnRef>
                      <a:fillRef idx="2">
                        <a:schemeClr val="accent6"/>
                      </a:fillRef>
                      <a:effectRef idx="1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368" b="1" dirty="0"/>
                          <a:t>Perturbed Environment </a:t>
                        </a:r>
                        <a14:m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368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368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68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n-US" sz="2368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sub>
                                </m:sSub>
                              </m:e>
                            </m:d>
                          </m:oMath>
                        </a14:m>
                        <a:endParaRPr lang="en-US" sz="2368" b="1" dirty="0"/>
                      </a:p>
                    </p:txBody>
                  </p:sp>
                </mc:Choice>
                <mc:Fallback xmlns="">
                  <p:sp>
                    <p:nvSpPr>
                      <p:cNvPr id="31" name="Alternate Process 30">
                        <a:extLst>
                          <a:ext uri="{FF2B5EF4-FFF2-40B4-BE49-F238E27FC236}">
                            <a16:creationId xmlns:a16="http://schemas.microsoft.com/office/drawing/2014/main" id="{6989CDFA-E3D8-5414-2C3B-7F86804676A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38782" y="9275686"/>
                        <a:ext cx="1657070" cy="406520"/>
                      </a:xfrm>
                      <a:prstGeom prst="flowChartAlternateProcess">
                        <a:avLst/>
                      </a:prstGeom>
                      <a:blipFill>
                        <a:blip r:embed="rId7"/>
                        <a:stretch>
                          <a:fillRect t="-2941" b="-13235"/>
                        </a:stretch>
                      </a:blipFill>
                      <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2" name="Straight Arrow Connector 31">
                    <a:extLst>
                      <a:ext uri="{FF2B5EF4-FFF2-40B4-BE49-F238E27FC236}">
                        <a16:creationId xmlns:a16="http://schemas.microsoft.com/office/drawing/2014/main" id="{6F542ADF-D0EB-9BB4-532B-4143D72CA4F7}"/>
                      </a:ext>
                    </a:extLst>
                  </p:cNvPr>
                  <p:cNvCxnSpPr>
                    <a:cxnSpLocks/>
                    <a:stCxn id="29" idx="3"/>
                    <a:endCxn id="28" idx="1"/>
                  </p:cNvCxnSpPr>
                  <p:nvPr/>
                </p:nvCxnSpPr>
                <p:spPr>
                  <a:xfrm flipV="1">
                    <a:off x="3911838" y="8382536"/>
                    <a:ext cx="1385404" cy="9209"/>
                  </a:xfrm>
                  <a:prstGeom prst="straightConnector1">
                    <a:avLst/>
                  </a:prstGeom>
                  <a:ln w="38100">
                    <a:tailEnd type="triangle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70543F7F-A477-FA53-6416-88ADC2F2B8B3}"/>
                      </a:ext>
                    </a:extLst>
                  </p:cNvPr>
                  <p:cNvSpPr txBox="1"/>
                  <p:nvPr/>
                </p:nvSpPr>
                <p:spPr>
                  <a:xfrm>
                    <a:off x="4163950" y="8197980"/>
                    <a:ext cx="820684" cy="1831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30" b="1" dirty="0"/>
                      <a:t>action</a:t>
                    </a:r>
                  </a:p>
                </p:txBody>
              </p: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BF7B3111-EC9B-F3C2-CC2F-11B6017B25A7}"/>
                      </a:ext>
                    </a:extLst>
                  </p:cNvPr>
                  <p:cNvCxnSpPr>
                    <a:cxnSpLocks/>
                    <a:stCxn id="28" idx="2"/>
                    <a:endCxn id="30" idx="0"/>
                  </p:cNvCxnSpPr>
                  <p:nvPr/>
                </p:nvCxnSpPr>
                <p:spPr>
                  <a:xfrm>
                    <a:off x="6126691" y="8584652"/>
                    <a:ext cx="915" cy="693894"/>
                  </a:xfrm>
                  <a:prstGeom prst="straightConnector1">
                    <a:avLst/>
                  </a:prstGeom>
                  <a:ln w="38100">
                    <a:tailEnd type="triangle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38F440B6-3F0A-E86A-911C-D785974DA763}"/>
                      </a:ext>
                    </a:extLst>
                  </p:cNvPr>
                  <p:cNvCxnSpPr>
                    <a:cxnSpLocks/>
                    <a:stCxn id="30" idx="1"/>
                    <a:endCxn id="31" idx="3"/>
                  </p:cNvCxnSpPr>
                  <p:nvPr/>
                </p:nvCxnSpPr>
                <p:spPr>
                  <a:xfrm flipH="1" flipV="1">
                    <a:off x="3895852" y="9478946"/>
                    <a:ext cx="1403219" cy="2860"/>
                  </a:xfrm>
                  <a:prstGeom prst="straightConnector1">
                    <a:avLst/>
                  </a:prstGeom>
                  <a:ln w="38100">
                    <a:tailEnd type="triangle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4CC7AB8C-1F5E-B8C6-898A-DF491E1AAC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046228" y="8600036"/>
                    <a:ext cx="0" cy="645419"/>
                  </a:xfrm>
                  <a:prstGeom prst="straightConnector1">
                    <a:avLst/>
                  </a:prstGeom>
                  <a:ln w="38100">
                    <a:tailEnd type="triangle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37" name="Picture 36" descr="A black cartoon character with horns&#10;&#10;AI-generated content may be incorrect.">
                    <a:extLst>
                      <a:ext uri="{FF2B5EF4-FFF2-40B4-BE49-F238E27FC236}">
                        <a16:creationId xmlns:a16="http://schemas.microsoft.com/office/drawing/2014/main" id="{D45A2404-CB79-9F62-257C-F5FFFB9D09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196468" y="8673452"/>
                    <a:ext cx="705860" cy="546551"/>
                  </a:xfrm>
                  <a:prstGeom prst="rect">
                    <a:avLst/>
                  </a:prstGeom>
                </p:spPr>
              </p:pic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95A15E13-7545-22A3-A2FA-6098A2620BB6}"/>
                      </a:ext>
                    </a:extLst>
                  </p:cNvPr>
                  <p:cNvSpPr txBox="1"/>
                  <p:nvPr/>
                </p:nvSpPr>
                <p:spPr>
                  <a:xfrm>
                    <a:off x="3899280" y="9283782"/>
                    <a:ext cx="1457417" cy="195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30" b="1" dirty="0"/>
                      <a:t>Worst-case kernel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B5770E49-4B07-6FFD-5283-297375A3EA8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32509" y="9477489"/>
                        <a:ext cx="1315726" cy="3465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3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</m:sSub>
                            <m:r>
                              <a:rPr lang="en-US" sz="203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sSub>
                              <m:sSubPr>
                                <m:ctrlPr>
                                  <a:rPr lang="en-US" sz="203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𝓤</m:t>
                                </m:r>
                              </m:e>
                              <m:sub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𝛔</m:t>
                                </m:r>
                              </m:sub>
                            </m:sSub>
                            <m:r>
                              <a:rPr lang="en-US" sz="203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03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  <m:sup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sz="203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a14:m>
                        <a:r>
                          <a:rPr lang="en-US" sz="2030" b="1" dirty="0">
                            <a:solidFill>
                              <a:srgbClr val="FF0000"/>
                            </a:solidFill>
                          </a:rPr>
                          <a:t> </a:t>
                        </a:r>
                        <a:r>
                          <a:rPr lang="en-US" sz="2030" b="1" dirty="0"/>
                          <a:t>[Uncertainty Set]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B5770E49-4B07-6FFD-5283-297375A3EA8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32509" y="9477489"/>
                        <a:ext cx="1315726" cy="346536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b="-1379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F149ACA2-19C3-A7D5-FB09-E5DFF2B2D6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86724" y="8799462"/>
                        <a:ext cx="1443228" cy="3465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2030" b="1" dirty="0"/>
                          <a:t>next-state </a:t>
                        </a: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∼ </m:t>
                              </m:r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(.|</m:t>
                              </m:r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030" b="1" dirty="0"/>
                      </a:p>
                    </p:txBody>
                  </p:sp>
                </mc:Choice>
                <mc:Fallback xmlns="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F149ACA2-19C3-A7D5-FB09-E5DFF2B2D62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86724" y="8799462"/>
                        <a:ext cx="1443228" cy="346536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t="-5263" b="-877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31B897DF-EEC4-DE35-2D3F-12ADB49398B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66188" y="8795770"/>
                        <a:ext cx="804461" cy="3245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2030" b="1" dirty="0"/>
                          <a:t>reward</a:t>
                        </a: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3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sz="203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sz="203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030" b="1" dirty="0"/>
                      </a:p>
                    </p:txBody>
                  </p:sp>
                </mc:Choice>
                <mc:Fallback xmlns="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31B897DF-EEC4-DE35-2D3F-12ADB49398B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66188" y="8795770"/>
                        <a:ext cx="804461" cy="324592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t="-5556"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6FDE382B-3BA3-28B5-6ED5-043AA216DB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45878" y="8600036"/>
                    <a:ext cx="0" cy="645419"/>
                  </a:xfrm>
                  <a:prstGeom prst="straightConnector1">
                    <a:avLst/>
                  </a:prstGeom>
                  <a:ln w="38100">
                    <a:prstDash val="sysDot"/>
                    <a:tailEnd type="triangle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F91AAFF7-5511-2468-216C-DFE7EB37B8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71154" y="7368541"/>
                      <a:ext cx="1309695" cy="2052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3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b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</m:sSub>
                            <m:r>
                              <a:rPr lang="en-US" sz="203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sSub>
                              <m:sSubPr>
                                <m:ctrlPr>
                                  <a:rPr lang="en-US" sz="203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𝛑</m:t>
                                </m:r>
                              </m:e>
                              <m:sub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3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3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3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30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𝐬</m:t>
                                    </m:r>
                                  </m:e>
                                  <m:sub>
                                    <m:r>
                                      <a:rPr lang="en-US" sz="2030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lang="en-US" sz="2030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F91AAFF7-5511-2468-216C-DFE7EB37B8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71154" y="7368541"/>
                      <a:ext cx="1309695" cy="20527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64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A320928-9BFD-3E6E-1E74-D4DA6AD4320D}"/>
                </a:ext>
              </a:extLst>
            </p:cNvPr>
            <p:cNvGrpSpPr/>
            <p:nvPr/>
          </p:nvGrpSpPr>
          <p:grpSpPr>
            <a:xfrm>
              <a:off x="5650134" y="11763772"/>
              <a:ext cx="6428000" cy="1572548"/>
              <a:chOff x="3659607" y="5746388"/>
              <a:chExt cx="2650141" cy="710293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7C562C9F-3A2E-5436-DB31-BA7391DB897D}"/>
                  </a:ext>
                </a:extLst>
              </p:cNvPr>
              <p:cNvSpPr/>
              <p:nvPr/>
            </p:nvSpPr>
            <p:spPr>
              <a:xfrm>
                <a:off x="3659607" y="5746388"/>
                <a:ext cx="2650141" cy="710293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3C32F8B-6A2D-6199-08A8-8A450EBB7F1C}"/>
                  </a:ext>
                </a:extLst>
              </p:cNvPr>
              <p:cNvSpPr txBox="1"/>
              <p:nvPr/>
            </p:nvSpPr>
            <p:spPr>
              <a:xfrm>
                <a:off x="3670810" y="5769368"/>
                <a:ext cx="2627734" cy="653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Distributionally Robust RL (DR-RL)</a:t>
                </a:r>
              </a:p>
              <a:p>
                <a:pPr algn="ctr"/>
                <a:r>
                  <a:rPr lang="en-US" sz="2800" i="1" dirty="0"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Optimizes performance under a divergence ball around the nominal dynamics.</a:t>
                </a:r>
                <a:endParaRPr lang="en-US" sz="2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45A1E1A-4EDA-9C50-7C19-ECE4E3F3A72B}"/>
                </a:ext>
              </a:extLst>
            </p:cNvPr>
            <p:cNvGrpSpPr/>
            <p:nvPr/>
          </p:nvGrpSpPr>
          <p:grpSpPr>
            <a:xfrm>
              <a:off x="12225082" y="11749267"/>
              <a:ext cx="5887150" cy="1588054"/>
              <a:chOff x="8088851" y="5692036"/>
              <a:chExt cx="1303034" cy="1695418"/>
            </a:xfrm>
          </p:grpSpPr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0B40C271-20F5-0DF8-E475-E86437F53927}"/>
                  </a:ext>
                </a:extLst>
              </p:cNvPr>
              <p:cNvSpPr/>
              <p:nvPr/>
            </p:nvSpPr>
            <p:spPr>
              <a:xfrm>
                <a:off x="8088851" y="5692036"/>
                <a:ext cx="1303034" cy="1695418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FD71A8-3142-2EEA-D17B-A58C75504BA6}"/>
                  </a:ext>
                </a:extLst>
              </p:cNvPr>
              <p:cNvSpPr txBox="1"/>
              <p:nvPr/>
            </p:nvSpPr>
            <p:spPr>
              <a:xfrm>
                <a:off x="8092581" y="5775847"/>
                <a:ext cx="1295573" cy="1544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28409E"/>
                    </a:solidFill>
                    <a:latin typeface="Calibri" panose="020F0502020204030204" pitchFamily="34" charset="0"/>
                    <a:ea typeface="Aptos Display" pitchFamily="34" charset="-122"/>
                    <a:cs typeface="Calibri" panose="020F0502020204030204" pitchFamily="34" charset="0"/>
                  </a:rPr>
                  <a:t>Online challenge</a:t>
                </a:r>
              </a:p>
              <a:p>
                <a:pPr algn="ctr"/>
                <a:r>
                  <a:rPr lang="en-US" sz="2800" i="1" dirty="0">
                    <a:latin typeface="Calibri" panose="020F0502020204030204" pitchFamily="34" charset="0"/>
                    <a:ea typeface="Aptos" pitchFamily="34" charset="-122"/>
                    <a:cs typeface="Calibri" panose="020F0502020204030204" pitchFamily="34" charset="0"/>
                  </a:rPr>
                  <a:t>Data come from P*,  while robust value depends on worst-case dynamics.</a:t>
                </a:r>
                <a:endParaRPr lang="en-US" sz="2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9" name="Text 8">
            <a:extLst>
              <a:ext uri="{FF2B5EF4-FFF2-40B4-BE49-F238E27FC236}">
                <a16:creationId xmlns:a16="http://schemas.microsoft.com/office/drawing/2014/main" id="{A8ACE7A3-9663-2BB3-F424-918A7D34930A}"/>
              </a:ext>
            </a:extLst>
          </p:cNvPr>
          <p:cNvSpPr/>
          <p:nvPr/>
        </p:nvSpPr>
        <p:spPr>
          <a:xfrm>
            <a:off x="790645" y="14078424"/>
            <a:ext cx="49391564" cy="865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13F5"/>
                </a:solidFill>
                <a:latin typeface="Calibri" panose="020F0502020204030204" pitchFamily="34" charset="0"/>
                <a:ea typeface="Aptos Display" pitchFamily="34" charset="-122"/>
                <a:cs typeface="Calibri" panose="020F0502020204030204" pitchFamily="34" charset="0"/>
              </a:rPr>
              <a:t>Can we learn a robust policy purely online, with general function approximation, and provable regret?</a:t>
            </a:r>
            <a:endParaRPr lang="en-US" sz="4800" b="1" dirty="0">
              <a:solidFill>
                <a:srgbClr val="1E13F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DD87CAA-C7F9-ADDC-8E2A-873E7C197CAF}"/>
              </a:ext>
            </a:extLst>
          </p:cNvPr>
          <p:cNvGrpSpPr/>
          <p:nvPr/>
        </p:nvGrpSpPr>
        <p:grpSpPr>
          <a:xfrm>
            <a:off x="18846116" y="5162764"/>
            <a:ext cx="31882406" cy="8557294"/>
            <a:chOff x="18846116" y="5162764"/>
            <a:chExt cx="31720908" cy="85572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F3B2F8-D25A-DFE4-55C0-4041D75AA52C}"/>
                </a:ext>
              </a:extLst>
            </p:cNvPr>
            <p:cNvSpPr txBox="1"/>
            <p:nvPr/>
          </p:nvSpPr>
          <p:spPr>
            <a:xfrm>
              <a:off x="18932231" y="6332509"/>
              <a:ext cx="3163479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Purely </a:t>
              </a:r>
              <a:r>
                <a:rPr lang="en-US" sz="32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online </a:t>
              </a:r>
              <a:r>
                <a:rPr lang="en-US" sz="3200" b="1" dirty="0">
                  <a:latin typeface="Calibri" panose="020F0502020204030204" pitchFamily="34" charset="0"/>
                  <a:cs typeface="Calibri" panose="020F0502020204030204" pitchFamily="34" charset="0"/>
                </a:rPr>
                <a:t>robust reinforcement learning </a:t>
              </a:r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with </a:t>
              </a:r>
              <a:r>
                <a:rPr lang="en-US" sz="32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general function approximation </a:t>
              </a:r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is </a:t>
              </a:r>
              <a:r>
                <a:rPr lang="en-US" sz="3200" b="1" dirty="0">
                  <a:latin typeface="Calibri" panose="020F0502020204030204" pitchFamily="34" charset="0"/>
                  <a:cs typeface="Calibri" panose="020F0502020204030204" pitchFamily="34" charset="0"/>
                </a:rPr>
                <a:t>fundamentally hard</a:t>
              </a:r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5B96F502-3C36-458D-595B-EB417E2DE79E}"/>
                </a:ext>
              </a:extLst>
            </p:cNvPr>
            <p:cNvSpPr/>
            <p:nvPr/>
          </p:nvSpPr>
          <p:spPr>
            <a:xfrm>
              <a:off x="18846116" y="5162764"/>
              <a:ext cx="31665190" cy="1124712"/>
            </a:xfrm>
            <a:prstGeom prst="roundRect">
              <a:avLst/>
            </a:prstGeom>
            <a:solidFill>
              <a:srgbClr val="211D20">
                <a:alpha val="7882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0" b="1" dirty="0">
                  <a:solidFill>
                    <a:srgbClr val="FFC000"/>
                  </a:solidFill>
                  <a:ea typeface="Apple Symbols" panose="02000000000000000000" pitchFamily="2" charset="-79"/>
                  <a:cs typeface="Apple Symbols" panose="02000000000000000000" pitchFamily="2" charset="-79"/>
                </a:rPr>
                <a:t>Key Challenges:</a:t>
              </a:r>
              <a:r>
                <a:rPr lang="en-US" sz="5000" b="1" dirty="0">
                  <a:solidFill>
                    <a:schemeClr val="bg1"/>
                  </a:solidFill>
                  <a:ea typeface="Apple Symbols" panose="02000000000000000000" pitchFamily="2" charset="-79"/>
                  <a:cs typeface="Apple Symbols" panose="02000000000000000000" pitchFamily="2" charset="-79"/>
                </a:rPr>
                <a:t> </a:t>
              </a:r>
              <a:r>
                <a:rPr lang="en-US" sz="5000" b="1" dirty="0">
                  <a:solidFill>
                    <a:schemeClr val="bg1"/>
                  </a:solidFill>
                  <a:cs typeface="Calibri" panose="020F0502020204030204" pitchFamily="34" charset="0"/>
                </a:rPr>
                <a:t>Why is </a:t>
              </a:r>
              <a:r>
                <a:rPr lang="en-US" sz="5000" b="1" dirty="0">
                  <a:solidFill>
                    <a:schemeClr val="bg1"/>
                  </a:solidFill>
                </a:rPr>
                <a:t>Online Robust RL difficult</a:t>
              </a:r>
              <a:r>
                <a:rPr lang="en-US" sz="5000" b="1" dirty="0"/>
                <a:t>?</a:t>
              </a:r>
              <a:endParaRPr lang="en-US" sz="5000" b="1" dirty="0">
                <a:solidFill>
                  <a:schemeClr val="bg1"/>
                </a:solidFill>
                <a:ea typeface="Apple Symbols" panose="02000000000000000000" pitchFamily="2" charset="-79"/>
                <a:cs typeface="Apple Symbols" panose="02000000000000000000" pitchFamily="2" charset="-79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36CF91F-74B2-36D7-5517-A36F51053E46}"/>
                </a:ext>
              </a:extLst>
            </p:cNvPr>
            <p:cNvGrpSpPr/>
            <p:nvPr/>
          </p:nvGrpSpPr>
          <p:grpSpPr>
            <a:xfrm>
              <a:off x="19249527" y="10864899"/>
              <a:ext cx="30869366" cy="2855159"/>
              <a:chOff x="4183633" y="1658537"/>
              <a:chExt cx="1634015" cy="2408017"/>
            </a:xfrm>
          </p:grpSpPr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A9EE24EE-2D12-81CB-F16B-16E6F6E7DC33}"/>
                  </a:ext>
                </a:extLst>
              </p:cNvPr>
              <p:cNvSpPr/>
              <p:nvPr/>
            </p:nvSpPr>
            <p:spPr>
              <a:xfrm>
                <a:off x="4183633" y="1658537"/>
                <a:ext cx="1633754" cy="2408017"/>
              </a:xfrm>
              <a:prstGeom prst="roundRect">
                <a:avLst/>
              </a:prstGeom>
              <a:solidFill>
                <a:srgbClr val="FAFAFA"/>
              </a:solidFill>
              <a:ln w="38100">
                <a:solidFill>
                  <a:srgbClr val="EF44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F174048-D213-9768-A41B-0449521F0943}"/>
                      </a:ext>
                    </a:extLst>
                  </p:cNvPr>
                  <p:cNvSpPr txBox="1"/>
                  <p:nvPr/>
                </p:nvSpPr>
                <p:spPr>
                  <a:xfrm>
                    <a:off x="4201113" y="1850600"/>
                    <a:ext cx="1616535" cy="2142964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>
                      <a:defRPr sz="1800" b="1"/>
                    </a:pPr>
                    <a:r>
                      <a:rPr lang="en-US" sz="3600" dirty="0">
                        <a:solidFill>
                          <a:srgbClr val="29419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Robust Bellman Learning</a:t>
                    </a:r>
                  </a:p>
                  <a:p>
                    <a:pPr>
                      <a:defRPr sz="1200"/>
                    </a:pPr>
                    <a: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Robust Bellman update requires optimization over uncertainty sets:   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ar-AE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ar-AE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𝓣</m:t>
                                </m:r>
                              </m:e>
                              <m:sub>
                                <m:r>
                                  <a:rPr lang="ar-AE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𝐡</m:t>
                                </m:r>
                              </m:sub>
                              <m:sup>
                                <m:r>
                                  <a:rPr lang="ar-AE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𝛟</m:t>
                                </m:r>
                                <m:r>
                                  <a:rPr lang="ar-AE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ar-AE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𝛔</m:t>
                                </m:r>
                              </m:sup>
                            </m:sSubSup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𝐕</m:t>
                            </m:r>
                          </m:e>
                        </m:d>
                        <m:d>
                          <m:dPr>
                            <m:ctrlPr>
                              <a:rPr lang="ar-AE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𝐬</m:t>
                            </m:r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𝐚</m:t>
                            </m:r>
                          </m:e>
                        </m:d>
                        <m:r>
                          <a:rPr lang="ar-AE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</m:t>
                        </m:r>
                        <m:r>
                          <a:rPr lang="ar-AE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𝐫</m:t>
                        </m:r>
                        <m:d>
                          <m:dPr>
                            <m:ctrlPr>
                              <a:rPr lang="ar-AE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𝐬</m:t>
                            </m:r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𝐚</m:t>
                            </m:r>
                          </m:e>
                        </m:d>
                        <m:r>
                          <a:rPr lang="ar-AE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𝐢𝐧𝐟</m:t>
                            </m:r>
                          </m:e>
                          <m:sub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𝐏</m:t>
                            </m:r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∈ </m:t>
                            </m:r>
                            <m:sSub>
                              <m:sSubPr>
                                <m:ctrlPr>
                                  <a:rPr lang="ar-AE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ar-AE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𝓤</m:t>
                                </m:r>
                              </m:e>
                              <m:sub>
                                <m:r>
                                  <a:rPr lang="ar-AE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𝛟</m:t>
                                </m:r>
                                <m:r>
                                  <a:rPr lang="ar-AE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ar-AE" sz="2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𝛔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ar-AE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𝚬</m:t>
                            </m:r>
                          </m:e>
                          <m:sub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𝐏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ar-AE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ar-AE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𝐕</m:t>
                            </m:r>
                          </m:e>
                        </m:d>
                      </m:oMath>
                    </a14:m>
                    <a:r>
                      <a:rPr lang="en-US" sz="1200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.                                                                        </a:t>
                    </a:r>
                    <a:r>
                      <a:rPr lang="en-US" sz="3200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Key Challenge: </a:t>
                    </a:r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ar-AE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ar-AE" sz="3200" b="1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nor/>
                                  </m:rPr>
                                  <a:rPr lang="ar-AE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•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Worst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case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operator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/>
                                  <m:t>not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/>
                                  <m:t>directly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/>
                                  <m:t>observable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•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Inner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optimization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required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at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every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).             </m:t>
                                </m:r>
                              </m:e>
                            </m:eqArr>
                          </m:e>
                        </m:d>
                      </m:oMath>
                    </a14:m>
                    <a:br>
                      <a:rPr lang="ar-AE" sz="3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</a:br>
                    <a:endParaRPr lang="en-US" sz="1200" b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  <a:p>
                    <a:pPr>
                      <a:defRPr sz="1200"/>
                    </a:pPr>
                    <a: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Existing Standard fitted RL/UCB assume nominal Bellman updates </a:t>
                    </a:r>
                    <a:r>
                      <a:rPr lang="en-US" sz="2800" b="1" dirty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(</a:t>
                    </a:r>
                    <a:r>
                      <a:rPr lang="en-US" sz="2800" b="1" i="1" dirty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Jin et al., 2021</a:t>
                    </a:r>
                    <a:r>
                      <a:rPr lang="en-US" sz="2800" b="1" dirty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);                 </a:t>
                    </a:r>
                    <a:r>
                      <a:rPr lang="en-US" sz="2800" dirty="0"/>
                      <a:t>Robust RL requires learning a worst-case Bellman operator online </a:t>
                    </a:r>
                    <a:r>
                      <a:rPr lang="en-US" sz="2800" b="1" dirty="0">
                        <a:solidFill>
                          <a:srgbClr val="002060"/>
                        </a:solidFill>
                      </a:rPr>
                      <a:t>(</a:t>
                    </a:r>
                    <a:r>
                      <a:rPr lang="en-US" sz="2800" b="1" i="1" dirty="0" err="1">
                        <a:solidFill>
                          <a:srgbClr val="002060"/>
                        </a:solidFill>
                      </a:rPr>
                      <a:t>Panaganti</a:t>
                    </a:r>
                    <a:r>
                      <a:rPr lang="en-US" sz="2800" b="1" i="1" dirty="0">
                        <a:solidFill>
                          <a:srgbClr val="002060"/>
                        </a:solidFill>
                      </a:rPr>
                      <a:t> et al., 2022</a:t>
                    </a:r>
                    <a:r>
                      <a:rPr lang="en-US" sz="2800" b="1" dirty="0">
                        <a:solidFill>
                          <a:srgbClr val="002060"/>
                        </a:solidFill>
                      </a:rPr>
                      <a:t>).</a:t>
                    </a:r>
                    <a:endParaRPr sz="2800" b="1" dirty="0">
                      <a:solidFill>
                        <a:srgbClr val="00206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F174048-D213-9768-A41B-0449521F09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1113" y="1850600"/>
                    <a:ext cx="1616535" cy="214296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582" t="-92537" b="-139303"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6E244AF-0257-7982-25F3-F6FB1C1AA0AC}"/>
                </a:ext>
              </a:extLst>
            </p:cNvPr>
            <p:cNvGrpSpPr/>
            <p:nvPr/>
          </p:nvGrpSpPr>
          <p:grpSpPr>
            <a:xfrm>
              <a:off x="34537677" y="7062686"/>
              <a:ext cx="15693936" cy="3567375"/>
              <a:chOff x="664083" y="27118129"/>
              <a:chExt cx="7988832" cy="3813816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94B7C745-4DBA-4FBB-1F50-826991799F75}"/>
                  </a:ext>
                </a:extLst>
              </p:cNvPr>
              <p:cNvGrpSpPr/>
              <p:nvPr/>
            </p:nvGrpSpPr>
            <p:grpSpPr>
              <a:xfrm>
                <a:off x="664083" y="27118129"/>
                <a:ext cx="7988832" cy="3813816"/>
                <a:chOff x="8111380" y="1753236"/>
                <a:chExt cx="1577153" cy="3008697"/>
              </a:xfrm>
            </p:grpSpPr>
            <p:sp>
              <p:nvSpPr>
                <p:cNvPr id="64" name="Rounded Rectangle 63">
                  <a:extLst>
                    <a:ext uri="{FF2B5EF4-FFF2-40B4-BE49-F238E27FC236}">
                      <a16:creationId xmlns:a16="http://schemas.microsoft.com/office/drawing/2014/main" id="{B165F86A-328D-7778-A9FF-8C0FE363B129}"/>
                    </a:ext>
                  </a:extLst>
                </p:cNvPr>
                <p:cNvSpPr/>
                <p:nvPr/>
              </p:nvSpPr>
              <p:spPr>
                <a:xfrm>
                  <a:off x="8111380" y="1753236"/>
                  <a:ext cx="1577153" cy="3008697"/>
                </a:xfrm>
                <a:prstGeom prst="roundRect">
                  <a:avLst/>
                </a:prstGeom>
                <a:solidFill>
                  <a:srgbClr val="FAFAFA"/>
                </a:solidFill>
                <a:ln w="571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73D63ECB-3EFC-E1F0-5622-62F56F5046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40254" y="1883877"/>
                      <a:ext cx="1533159" cy="27774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>
                        <a:defRPr sz="1800" b="1"/>
                      </a:pPr>
                      <a:r>
                        <a:rPr sz="3600" dirty="0">
                          <a:solidFill>
                            <a:srgbClr val="29419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Scalability</a:t>
                      </a:r>
                    </a:p>
                    <a:p>
                      <a:pPr>
                        <a:defRPr sz="1200"/>
                      </a:pPr>
                      <a:r>
                        <a:rPr sz="3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Real-world robust RL require:</a:t>
                      </a:r>
                      <a:r>
                        <a:rPr lang="en-US" sz="3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</a:t>
                      </a:r>
                      <a:r>
                        <a:rPr sz="2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neural networks</a:t>
                      </a:r>
                      <a:r>
                        <a:rPr lang="en-US" sz="2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</a:t>
                      </a:r>
                      <a:r>
                        <a:rPr sz="2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continuous states</a:t>
                      </a:r>
                      <a:r>
                        <a:rPr lang="en-US" sz="2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</a:t>
                      </a:r>
                      <a:r>
                        <a:rPr sz="2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large action spaces</a:t>
                      </a:r>
                      <a:endParaRPr lang="en-US" sz="2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defRPr sz="1200"/>
                      </a:pPr>
                      <a:endParaRPr lang="en-US" sz="12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defRPr sz="12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 Challenge: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 sz="1200"/>
                      </a:pPr>
                      <a:r>
                        <a:rPr lang="en-US" sz="2800" b="1" dirty="0"/>
                        <a:t>Tabular bonuses </a:t>
                      </a:r>
                      <a:r>
                        <a:rPr lang="en-US" sz="2800" dirty="0"/>
                        <a:t>scale with: </a:t>
                      </a:r>
                      <a14:m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𝓢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𝓐</m:t>
                              </m:r>
                            </m:e>
                          </m:d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oMath>
                      </a14:m>
                      <a:endParaRPr lang="en-US" sz="2800" b="1" dirty="0">
                        <a:ea typeface="Cambria Math" panose="02040503050406030204" pitchFamily="18" charset="0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 sz="1200"/>
                      </a:pPr>
                      <a:r>
                        <a:rPr lang="en-US" sz="2800" b="1" dirty="0"/>
                        <a:t>Linear methods </a:t>
                      </a:r>
                      <a:r>
                        <a:rPr lang="en-US" sz="2800" dirty="0"/>
                        <a:t>require </a:t>
                      </a:r>
                      <a:r>
                        <a:rPr lang="en-US" sz="2800" b="1" dirty="0"/>
                        <a:t>restrictive structure assumptions.</a:t>
                      </a:r>
                    </a:p>
                    <a:p>
                      <a:pPr>
                        <a:defRPr sz="1200"/>
                      </a:pPr>
                      <a:endParaRPr lang="en-US" sz="1200" b="1" i="1" dirty="0">
                        <a:solidFill>
                          <a:srgbClr val="29419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defRPr sz="1200"/>
                      </a:pPr>
                      <a:r>
                        <a:rPr lang="en-US" sz="2800" b="1" i="1" dirty="0">
                          <a:solidFill>
                            <a:srgbClr val="29419E"/>
                          </a:solidFill>
                        </a:rPr>
                        <a:t>No general intrinsic-complexity theory existed for online DR-RL.</a:t>
                      </a:r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73D63ECB-3EFC-E1F0-5622-62F56F50469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40254" y="1883877"/>
                      <a:ext cx="1533159" cy="2777466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248" t="-2692" b="-46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6D557D3-2EC9-29C7-D0AE-D3E34793CB93}"/>
                  </a:ext>
                </a:extLst>
              </p:cNvPr>
              <p:cNvSpPr/>
              <p:nvPr/>
            </p:nvSpPr>
            <p:spPr>
              <a:xfrm>
                <a:off x="3448294" y="28145557"/>
                <a:ext cx="108122" cy="228600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C2A9DC5-0BB6-27BB-FF82-AAE8AABCA026}"/>
                  </a:ext>
                </a:extLst>
              </p:cNvPr>
              <p:cNvSpPr/>
              <p:nvPr/>
            </p:nvSpPr>
            <p:spPr>
              <a:xfrm>
                <a:off x="5125950" y="28145557"/>
                <a:ext cx="108122" cy="228600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5FFA382-6C0A-2E6F-108C-0F4AC70AB607}"/>
                  </a:ext>
                </a:extLst>
              </p:cNvPr>
              <p:cNvSpPr/>
              <p:nvPr/>
            </p:nvSpPr>
            <p:spPr>
              <a:xfrm>
                <a:off x="6875689" y="28145557"/>
                <a:ext cx="108122" cy="228600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EE21305F-2A21-6E82-5897-15186E3EADCC}"/>
                </a:ext>
              </a:extLst>
            </p:cNvPr>
            <p:cNvGrpSpPr/>
            <p:nvPr/>
          </p:nvGrpSpPr>
          <p:grpSpPr>
            <a:xfrm>
              <a:off x="19325434" y="7061094"/>
              <a:ext cx="14528225" cy="3568969"/>
              <a:chOff x="19047900" y="6680565"/>
              <a:chExt cx="14528225" cy="3568969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83CB19BE-0208-F401-0B5D-82ED888EDA0C}"/>
                  </a:ext>
                </a:extLst>
              </p:cNvPr>
              <p:cNvCxnSpPr>
                <a:cxnSpLocks/>
                <a:stCxn id="71" idx="6"/>
                <a:endCxn id="72" idx="2"/>
              </p:cNvCxnSpPr>
              <p:nvPr/>
            </p:nvCxnSpPr>
            <p:spPr>
              <a:xfrm>
                <a:off x="29550910" y="7452707"/>
                <a:ext cx="1842181" cy="2451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BD96F03F-52F3-D572-E1CA-7EE43A504982}"/>
                  </a:ext>
                </a:extLst>
              </p:cNvPr>
              <p:cNvCxnSpPr>
                <a:cxnSpLocks/>
                <a:stCxn id="71" idx="5"/>
                <a:endCxn id="73" idx="2"/>
              </p:cNvCxnSpPr>
              <p:nvPr/>
            </p:nvCxnSpPr>
            <p:spPr>
              <a:xfrm>
                <a:off x="29383201" y="7846198"/>
                <a:ext cx="2009891" cy="117395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67CD39B0-802D-7905-BD96-E1B685A54FF6}"/>
                  </a:ext>
                </a:extLst>
              </p:cNvPr>
              <p:cNvSpPr/>
              <p:nvPr/>
            </p:nvSpPr>
            <p:spPr>
              <a:xfrm>
                <a:off x="19047900" y="6680565"/>
                <a:ext cx="14528225" cy="3568969"/>
              </a:xfrm>
              <a:prstGeom prst="roundRect">
                <a:avLst/>
              </a:prstGeom>
              <a:solidFill>
                <a:srgbClr val="FAFAFA"/>
              </a:solidFill>
              <a:ln w="57150">
                <a:solidFill>
                  <a:srgbClr val="F7901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solidFill>
                    <a:srgbClr val="29419E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2061528-85EE-41A8-4DC0-C6B3B2E2F866}"/>
                      </a:ext>
                    </a:extLst>
                  </p:cNvPr>
                  <p:cNvSpPr txBox="1"/>
                  <p:nvPr/>
                </p:nvSpPr>
                <p:spPr>
                  <a:xfrm>
                    <a:off x="19316482" y="6742548"/>
                    <a:ext cx="10951440" cy="350698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defRPr sz="1800" b="1"/>
                    </a:pPr>
                    <a:r>
                      <a:rPr lang="en-US" sz="3600" dirty="0">
                        <a:solidFill>
                          <a:srgbClr val="29419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Off-Dynamics Learning</a:t>
                    </a:r>
                  </a:p>
                  <a:p>
                    <a:pPr marL="914400" lvl="1" indent="-457200">
                      <a:buSzPct val="150000"/>
                      <a:buFont typeface="Arial" panose="020B0604020202020204" pitchFamily="34" charset="0"/>
                      <a:buChar char="•"/>
                      <a:defRPr sz="1200"/>
                    </a:pPr>
                    <a: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Data come from </a:t>
                    </a:r>
                    <a:r>
                      <a:rPr lang="en-US" sz="28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nominal dynamics</a:t>
                    </a:r>
                  </a:p>
                  <a:p>
                    <a:pPr marL="914400" lvl="1" indent="-457200">
                      <a:buSzPct val="150000"/>
                      <a:buFont typeface="Arial" panose="020B0604020202020204" pitchFamily="34" charset="0"/>
                      <a:buChar char="•"/>
                      <a:defRPr sz="1200"/>
                    </a:pPr>
                    <a: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Robustness is evaluated under </a:t>
                    </a:r>
                    <a:r>
                      <a:rPr lang="en-US" sz="28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worst-case dynamics.</a:t>
                    </a:r>
                  </a:p>
                  <a:p>
                    <a:pPr>
                      <a:defRPr sz="1200"/>
                    </a:pPr>
                    <a:endParaRPr 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  <a:p>
                    <a:pPr>
                      <a:defRPr sz="1200"/>
                    </a:pPr>
                    <a:r>
                      <a:rPr lang="en-US" sz="3200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Key Challenge:   </a:t>
                    </a:r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}"/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Distribution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mismatch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i="0" dirty="0" smtClean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Information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bottleneck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dirty="0"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  <m:r>
                          <m:rPr>
                            <m:nor/>
                          </m:rPr>
                          <a:rPr lang="en-US" sz="2800" b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He</m:t>
                        </m:r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et</m:t>
                        </m:r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al</m:t>
                        </m:r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. 2025</m:t>
                        </m:r>
                        <m:r>
                          <m:rPr>
                            <m:nor/>
                          </m:rPr>
                          <a:rPr lang="en-US" sz="2800" b="1" dirty="0" smtClean="0">
                            <a:solidFill>
                              <a:srgbClr val="00206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oMath>
                    </a14:m>
                    <a:endParaRPr lang="en-US" sz="28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  <a:p>
                    <a:pPr>
                      <a:defRPr sz="1200"/>
                    </a:pPr>
                    <a:endPara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  <a:p>
                    <a:pPr>
                      <a:defRPr sz="1200"/>
                    </a:pPr>
                    <a: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Existing methods need generative model or rich offline data or strong coverage assumptions </a:t>
                    </a:r>
                    <a:r>
                      <a:rPr lang="en-US" sz="2800" b="1" dirty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(</a:t>
                    </a:r>
                    <a:r>
                      <a:rPr lang="en-US" sz="2800" b="1" i="1" dirty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Shi and Chi 2024</a:t>
                    </a:r>
                    <a:r>
                      <a:rPr lang="en-US" sz="2800" b="1" dirty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)</a:t>
                    </a:r>
                    <a:r>
                      <a:rPr lang="en-US" sz="28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.</a:t>
                    </a: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2061528-85EE-41A8-4DC0-C6B3B2E2F8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16482" y="6742548"/>
                    <a:ext cx="10951440" cy="350698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20" t="-2518" b="-237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24495DC9-6783-2EFE-F000-DA165C42BE67}"/>
                  </a:ext>
                </a:extLst>
              </p:cNvPr>
              <p:cNvGrpSpPr/>
              <p:nvPr/>
            </p:nvGrpSpPr>
            <p:grpSpPr>
              <a:xfrm>
                <a:off x="28405718" y="6896225"/>
                <a:ext cx="4938640" cy="3136114"/>
                <a:chOff x="13490480" y="20627998"/>
                <a:chExt cx="6805509" cy="4007830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6A61FB01-3714-B32C-6618-0778EA3A48FF}"/>
                    </a:ext>
                  </a:extLst>
                </p:cNvPr>
                <p:cNvGrpSpPr/>
                <p:nvPr/>
              </p:nvGrpSpPr>
              <p:grpSpPr>
                <a:xfrm>
                  <a:off x="13490480" y="20627998"/>
                  <a:ext cx="6805509" cy="4007830"/>
                  <a:chOff x="11777299" y="18446693"/>
                  <a:chExt cx="4286292" cy="3757293"/>
                </a:xfrm>
              </p:grpSpPr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23238500-2661-75C0-C8EE-7024AB671A9A}"/>
                      </a:ext>
                    </a:extLst>
                  </p:cNvPr>
                  <p:cNvSpPr/>
                  <p:nvPr/>
                </p:nvSpPr>
                <p:spPr>
                  <a:xfrm>
                    <a:off x="11777299" y="18446693"/>
                    <a:ext cx="993923" cy="1333411"/>
                  </a:xfrm>
                  <a:prstGeom prst="ellipse">
                    <a:avLst/>
                  </a:prstGeom>
                  <a:solidFill>
                    <a:srgbClr val="D7E5BE"/>
                  </a:solidFill>
                  <a:ln>
                    <a:noFill/>
                  </a:ln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200" b="1" dirty="0">
                        <a:solidFill>
                          <a:srgbClr val="221E20"/>
                        </a:solidFill>
                      </a:rPr>
                      <a:t>s </a:t>
                    </a:r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50841321-FD06-8B93-ACC4-C0C22E9D2E45}"/>
                      </a:ext>
                    </a:extLst>
                  </p:cNvPr>
                  <p:cNvSpPr/>
                  <p:nvPr/>
                </p:nvSpPr>
                <p:spPr>
                  <a:xfrm>
                    <a:off x="14370068" y="18476068"/>
                    <a:ext cx="994067" cy="1333410"/>
                  </a:xfrm>
                  <a:prstGeom prst="ellipse">
                    <a:avLst/>
                  </a:prstGeom>
                  <a:solidFill>
                    <a:srgbClr val="D7E5BE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200" b="1" dirty="0">
                        <a:solidFill>
                          <a:srgbClr val="221E20"/>
                        </a:solidFill>
                      </a:rPr>
                      <a:t>s’</a:t>
                    </a:r>
                  </a:p>
                </p:txBody>
              </p:sp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8BC33AE8-A195-7169-9241-4995F9D16DCA}"/>
                      </a:ext>
                    </a:extLst>
                  </p:cNvPr>
                  <p:cNvSpPr/>
                  <p:nvPr/>
                </p:nvSpPr>
                <p:spPr>
                  <a:xfrm>
                    <a:off x="14370069" y="20324602"/>
                    <a:ext cx="994067" cy="1333412"/>
                  </a:xfrm>
                  <a:prstGeom prst="ellipse">
                    <a:avLst/>
                  </a:prstGeom>
                  <a:solidFill>
                    <a:srgbClr val="D7E5BE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200" b="1" dirty="0">
                        <a:solidFill>
                          <a:srgbClr val="221E20"/>
                        </a:solidFill>
                      </a:rPr>
                      <a:t>s”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4" name="TextBox 73">
                        <a:extLst>
                          <a:ext uri="{FF2B5EF4-FFF2-40B4-BE49-F238E27FC236}">
                            <a16:creationId xmlns:a16="http://schemas.microsoft.com/office/drawing/2014/main" id="{3548DB10-629C-B7FB-2198-0F4312F471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802754" y="18626833"/>
                        <a:ext cx="1581650" cy="10462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2600" b="1" dirty="0">
                            <a:solidFill>
                              <a:srgbClr val="0432FF"/>
                            </a:solidFill>
                          </a:rPr>
                          <a:t>Nominal</a:t>
                        </a:r>
                      </a:p>
                      <a:p>
                        <a:pPr algn="ctr"/>
                        <a:r>
                          <a:rPr lang="en-US" sz="2600" b="1" dirty="0"/>
                          <a:t> </a:t>
                        </a:r>
                        <a14:m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p>
                                <m:r>
                                  <a:rPr lang="en-US" sz="26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a14:m>
                        <a:r>
                          <a:rPr lang="en-US" sz="2600" b="1" dirty="0">
                            <a:solidFill>
                              <a:srgbClr val="FF0000"/>
                            </a:solidFill>
                          </a:rPr>
                          <a:t>  </a:t>
                        </a:r>
                        <a:endParaRPr lang="en-US" sz="2600" dirty="0"/>
                      </a:p>
                    </p:txBody>
                  </p:sp>
                </mc:Choice>
                <mc:Fallback xmlns="">
                  <p:sp>
                    <p:nvSpPr>
                      <p:cNvPr id="74" name="TextBox 73">
                        <a:extLst>
                          <a:ext uri="{FF2B5EF4-FFF2-40B4-BE49-F238E27FC236}">
                            <a16:creationId xmlns:a16="http://schemas.microsoft.com/office/drawing/2014/main" id="{3548DB10-629C-B7FB-2198-0F4312F471F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802754" y="18626833"/>
                        <a:ext cx="1581650" cy="104628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t="-571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5" name="TextBox 74">
                        <a:extLst>
                          <a:ext uri="{FF2B5EF4-FFF2-40B4-BE49-F238E27FC236}">
                            <a16:creationId xmlns:a16="http://schemas.microsoft.com/office/drawing/2014/main" id="{80A874FF-5BF4-092B-7306-D1111641D4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909693" y="20129567"/>
                        <a:ext cx="1674194" cy="10462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2600" b="1" dirty="0">
                            <a:solidFill>
                              <a:srgbClr val="0432FF"/>
                            </a:solidFill>
                          </a:rPr>
                          <a:t>worst-case</a:t>
                        </a:r>
                        <a:r>
                          <a:rPr lang="en-US" sz="2600" b="1" dirty="0"/>
                          <a:t> </a:t>
                        </a:r>
                        <a14:m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p>
                                <m:r>
                                  <a:rPr lang="en-US" sz="26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𝐰𝐜</m:t>
                                </m:r>
                              </m:sup>
                            </m:sSup>
                          </m:oMath>
                        </a14:m>
                        <a:endParaRPr lang="en-US" sz="2600" b="1" dirty="0"/>
                      </a:p>
                    </p:txBody>
                  </p:sp>
                </mc:Choice>
                <mc:Fallback xmlns="">
                  <p:sp>
                    <p:nvSpPr>
                      <p:cNvPr id="75" name="TextBox 74">
                        <a:extLst>
                          <a:ext uri="{FF2B5EF4-FFF2-40B4-BE49-F238E27FC236}">
                            <a16:creationId xmlns:a16="http://schemas.microsoft.com/office/drawing/2014/main" id="{80A874FF-5BF4-092B-7306-D1111641D4B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909693" y="20129567"/>
                        <a:ext cx="1674194" cy="1046280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3268" t="-5714" r="-3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9F28823C-78E2-58BD-6D23-CC3134798F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670611" y="19778196"/>
                    <a:ext cx="2392980" cy="57725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600" b="1" dirty="0">
                        <a:solidFill>
                          <a:srgbClr val="0432FF"/>
                        </a:solidFill>
                      </a:rPr>
                      <a:t>nominal states</a:t>
                    </a:r>
                    <a:endParaRPr lang="en-US" sz="2600" dirty="0">
                      <a:solidFill>
                        <a:srgbClr val="0432FF"/>
                      </a:solidFill>
                    </a:endParaRPr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97FC6C9-80CB-6B49-C35F-E6EAB0339604}"/>
                      </a:ext>
                    </a:extLst>
                  </p:cNvPr>
                  <p:cNvSpPr txBox="1"/>
                  <p:nvPr/>
                </p:nvSpPr>
                <p:spPr>
                  <a:xfrm>
                    <a:off x="13889458" y="21626729"/>
                    <a:ext cx="1955284" cy="57725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600" b="1" dirty="0">
                        <a:solidFill>
                          <a:srgbClr val="FF0000"/>
                        </a:solidFill>
                      </a:rPr>
                      <a:t>rare states</a:t>
                    </a:r>
                    <a:endParaRPr lang="en-US" sz="2600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82983C3D-3AE6-F0FA-6CF0-D05A919A56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41396" y="21370496"/>
                  <a:ext cx="2511246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67548ECD-DE1B-F3F3-F8FA-7698156A9A77}"/>
                    </a:ext>
                  </a:extLst>
                </p:cNvPr>
                <p:cNvCxnSpPr>
                  <a:cxnSpLocks/>
                  <a:stCxn id="71" idx="5"/>
                  <a:endCxn id="73" idx="2"/>
                </p:cNvCxnSpPr>
                <p:nvPr/>
              </p:nvCxnSpPr>
              <p:spPr>
                <a:xfrm>
                  <a:off x="14837464" y="21842030"/>
                  <a:ext cx="2769655" cy="150026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A35A99E-9B7B-34E0-DF59-8E6FF5A3405F}"/>
              </a:ext>
            </a:extLst>
          </p:cNvPr>
          <p:cNvSpPr/>
          <p:nvPr/>
        </p:nvSpPr>
        <p:spPr>
          <a:xfrm rot="5400000">
            <a:off x="25466039" y="7277382"/>
            <a:ext cx="274320" cy="51206402"/>
          </a:xfrm>
          <a:prstGeom prst="rect">
            <a:avLst/>
          </a:prstGeom>
          <a:solidFill>
            <a:srgbClr val="F79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45"/>
          </a:p>
        </p:txBody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47FEC3B-9EF9-FAF7-6B5D-3C896F0B013E}"/>
              </a:ext>
            </a:extLst>
          </p:cNvPr>
          <p:cNvGrpSpPr/>
          <p:nvPr/>
        </p:nvGrpSpPr>
        <p:grpSpPr>
          <a:xfrm>
            <a:off x="547856" y="15334477"/>
            <a:ext cx="32985749" cy="10250660"/>
            <a:chOff x="519422" y="15725763"/>
            <a:chExt cx="32985749" cy="10250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B92FEEFE-1432-CFC8-26B1-8D753E859AA4}"/>
                    </a:ext>
                  </a:extLst>
                </p:cNvPr>
                <p:cNvSpPr/>
                <p:nvPr/>
              </p:nvSpPr>
              <p:spPr>
                <a:xfrm>
                  <a:off x="519422" y="15725763"/>
                  <a:ext cx="32985749" cy="1128741"/>
                </a:xfrm>
                <a:prstGeom prst="roundRect">
                  <a:avLst/>
                </a:prstGeom>
                <a:solidFill>
                  <a:srgbClr val="211D20">
                    <a:alpha val="78824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0" b="1" dirty="0">
                      <a:solidFill>
                        <a:srgbClr val="FFC000"/>
                      </a:solidFill>
                      <a:ea typeface="Apple Symbols" panose="02000000000000000000" pitchFamily="2" charset="-79"/>
                      <a:cs typeface="Apple Symbols" panose="02000000000000000000" pitchFamily="2" charset="-79"/>
                    </a:rPr>
                    <a:t>Algorithm:</a:t>
                  </a:r>
                  <a:r>
                    <a:rPr lang="en-US" sz="5000" b="1" dirty="0">
                      <a:solidFill>
                        <a:schemeClr val="bg1"/>
                      </a:solidFill>
                      <a:ea typeface="Apple Symbols" panose="02000000000000000000" pitchFamily="2" charset="-79"/>
                      <a:cs typeface="Apple Symbols" panose="02000000000000000000" pitchFamily="2" charset="-79"/>
                    </a:rPr>
                    <a:t> </a:t>
                  </a:r>
                  <a:r>
                    <a:rPr lang="en-US" sz="50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Robust Fitted Learning with </a:t>
                  </a:r>
                  <a14:m>
                    <m:oMath xmlns:m="http://schemas.openxmlformats.org/officeDocument/2006/math">
                      <m:r>
                        <a:rPr lang="el-GR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𝝓</m:t>
                      </m:r>
                    </m:oMath>
                  </a14:m>
                  <a:r>
                    <a:rPr lang="el-GR" sz="50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-</a:t>
                  </a:r>
                  <a:r>
                    <a:rPr lang="en-US" sz="50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Divergence (RFL-</a:t>
                  </a:r>
                  <a14:m>
                    <m:oMath xmlns:m="http://schemas.openxmlformats.org/officeDocument/2006/math">
                      <m:r>
                        <a:rPr lang="el-GR" sz="5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𝝓</m:t>
                      </m:r>
                    </m:oMath>
                  </a14:m>
                  <a:r>
                    <a:rPr lang="el-GR" sz="50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en-US" sz="5000" b="1" dirty="0">
                    <a:solidFill>
                      <a:schemeClr val="bg1"/>
                    </a:solidFill>
                    <a:ea typeface="Apple Symbols" panose="02000000000000000000" pitchFamily="2" charset="-79"/>
                    <a:cs typeface="Apple Symbols" panose="02000000000000000000" pitchFamily="2" charset="-79"/>
                  </a:endParaRPr>
                </a:p>
              </p:txBody>
            </p:sp>
          </mc:Choice>
          <mc:Fallback xmlns=""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B92FEEFE-1432-CFC8-26B1-8D753E859A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422" y="15725763"/>
                  <a:ext cx="32985749" cy="1128741"/>
                </a:xfrm>
                <a:prstGeom prst="roundRect">
                  <a:avLst/>
                </a:prstGeom>
                <a:blipFill>
                  <a:blip r:embed="rId18"/>
                  <a:stretch>
                    <a:fillRect t="-2222" b="-1777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CE1DD442-FAE8-5E60-D794-55A4CB9BCEC3}"/>
                </a:ext>
              </a:extLst>
            </p:cNvPr>
            <p:cNvGrpSpPr/>
            <p:nvPr/>
          </p:nvGrpSpPr>
          <p:grpSpPr>
            <a:xfrm>
              <a:off x="651824" y="17055165"/>
              <a:ext cx="27869350" cy="616649"/>
              <a:chOff x="18362378" y="-170234"/>
              <a:chExt cx="27236765" cy="6926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90A4F19D-CB36-DEFC-0876-76EA3FD7F1CB}"/>
                      </a:ext>
                    </a:extLst>
                  </p:cNvPr>
                  <p:cNvSpPr txBox="1"/>
                  <p:nvPr/>
                </p:nvSpPr>
                <p:spPr>
                  <a:xfrm>
                    <a:off x="25075059" y="-170234"/>
                    <a:ext cx="5115294" cy="65680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indent="-285750" algn="ctr">
                      <a:buSzPct val="150000"/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a:rPr lang="en-US" sz="3200" b="1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𝓕</m:t>
                        </m:r>
                      </m:oMath>
                    </a14:m>
                    <a:r>
                      <a:rPr lang="en-US" sz="3200" b="1" dirty="0">
                        <a:solidFill>
                          <a:srgbClr val="212529"/>
                        </a:solidFill>
                      </a:rPr>
                      <a:t>: value functional class</a:t>
                    </a:r>
                  </a:p>
                </p:txBody>
              </p:sp>
            </mc:Choice>
            <mc:Fallback xmlns="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90A4F19D-CB36-DEFC-0876-76EA3FD7F1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075059" y="-170234"/>
                    <a:ext cx="5115294" cy="65680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906" t="-51064" r="-969" b="-510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4666CC41-D77E-65CF-4B35-5FA04EDB1AEB}"/>
                      </a:ext>
                    </a:extLst>
                  </p:cNvPr>
                  <p:cNvSpPr txBox="1"/>
                  <p:nvPr/>
                </p:nvSpPr>
                <p:spPr>
                  <a:xfrm>
                    <a:off x="30483445" y="-134435"/>
                    <a:ext cx="5115294" cy="65680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indent="-285750" algn="ctr">
                      <a:buSzPct val="150000"/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a:rPr lang="en-US" sz="3200" b="1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𝓖</m:t>
                        </m:r>
                      </m:oMath>
                    </a14:m>
                    <a:r>
                      <a:rPr lang="en-US" sz="3200" b="1" dirty="0">
                        <a:solidFill>
                          <a:srgbClr val="212529"/>
                        </a:solidFill>
                      </a:rPr>
                      <a:t>: dual functional class</a:t>
                    </a:r>
                  </a:p>
                </p:txBody>
              </p:sp>
            </mc:Choice>
            <mc:Fallback xmlns=""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4666CC41-D77E-65CF-4B35-5FA04EDB1A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83445" y="-134435"/>
                    <a:ext cx="5115294" cy="65680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26" t="-48936" b="-531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65409450-6870-2523-CE3E-5A81DA0CCF51}"/>
                      </a:ext>
                    </a:extLst>
                  </p:cNvPr>
                  <p:cNvSpPr txBox="1"/>
                  <p:nvPr/>
                </p:nvSpPr>
                <p:spPr>
                  <a:xfrm>
                    <a:off x="35859641" y="-159617"/>
                    <a:ext cx="5115295" cy="6568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indent="-285750" algn="ctr">
                      <a:buSzPct val="150000"/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a:rPr lang="en-US" sz="3200" b="1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a14:m>
                    <a:r>
                      <a:rPr lang="en-US" sz="3200" b="1" dirty="0">
                        <a:solidFill>
                          <a:srgbClr val="212529"/>
                        </a:solidFill>
                      </a:rPr>
                      <a:t>: confidence parameter</a:t>
                    </a:r>
                  </a:p>
                </p:txBody>
              </p:sp>
            </mc:Choice>
            <mc:Fallback xmlns=""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65409450-6870-2523-CE3E-5A81DA0CCF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59641" y="-159617"/>
                    <a:ext cx="5115295" cy="65680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148" t="-48936" r="-1211" b="-531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CF1F4FE2-378E-A918-0ABF-5DD280E8B288}"/>
                      </a:ext>
                    </a:extLst>
                  </p:cNvPr>
                  <p:cNvSpPr txBox="1"/>
                  <p:nvPr/>
                </p:nvSpPr>
                <p:spPr>
                  <a:xfrm>
                    <a:off x="41235838" y="-170233"/>
                    <a:ext cx="4363305" cy="6568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285750" indent="-285750" algn="ctr">
                      <a:buSzPct val="150000"/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a:rPr lang="en-US" sz="3200" b="1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oMath>
                    </a14:m>
                    <a:r>
                      <a:rPr lang="en-US" sz="3200" b="1" dirty="0">
                        <a:solidFill>
                          <a:srgbClr val="212529"/>
                        </a:solidFill>
                      </a:rPr>
                      <a:t>: robustness radius</a:t>
                    </a:r>
                  </a:p>
                </p:txBody>
              </p:sp>
            </mc:Choice>
            <mc:Fallback xmlns=""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CF1F4FE2-378E-A918-0ABF-5DD280E8B2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35838" y="-170233"/>
                    <a:ext cx="4363305" cy="65680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3409" t="-51064" r="-1136" b="-510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D027FDB-BFD2-4AC9-B9A9-854A8DAFEABF}"/>
                  </a:ext>
                </a:extLst>
              </p:cNvPr>
              <p:cNvSpPr txBox="1"/>
              <p:nvPr/>
            </p:nvSpPr>
            <p:spPr>
              <a:xfrm>
                <a:off x="18362378" y="-134435"/>
                <a:ext cx="6419030" cy="656806"/>
              </a:xfrm>
              <a:prstGeom prst="rect">
                <a:avLst/>
              </a:prstGeom>
              <a:solidFill>
                <a:srgbClr val="FFF0C6"/>
              </a:solidFill>
            </p:spPr>
            <p:txBody>
              <a:bodyPr wrap="square">
                <a:spAutoFit/>
              </a:bodyPr>
              <a:lstStyle/>
              <a:p>
                <a:pPr algn="ctr">
                  <a:buSzPct val="150000"/>
                </a:pPr>
                <a:r>
                  <a:rPr lang="en-US" sz="3200" b="1" dirty="0">
                    <a:solidFill>
                      <a:srgbClr val="212529"/>
                    </a:solidFill>
                  </a:rPr>
                  <a:t>Input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67F7205-1200-FE38-F95C-05A97660FA8F}"/>
                </a:ext>
              </a:extLst>
            </p:cNvPr>
            <p:cNvGrpSpPr/>
            <p:nvPr/>
          </p:nvGrpSpPr>
          <p:grpSpPr>
            <a:xfrm>
              <a:off x="547765" y="17550330"/>
              <a:ext cx="32782826" cy="8426093"/>
              <a:chOff x="18266336" y="1272365"/>
              <a:chExt cx="32038714" cy="946397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310AF52B-DECE-D836-8E56-CA1B7C3EECE3}"/>
                  </a:ext>
                </a:extLst>
              </p:cNvPr>
              <p:cNvGrpSpPr/>
              <p:nvPr/>
            </p:nvGrpSpPr>
            <p:grpSpPr>
              <a:xfrm>
                <a:off x="18266336" y="1272365"/>
                <a:ext cx="31985410" cy="9463974"/>
                <a:chOff x="19158765" y="406921"/>
                <a:chExt cx="31985410" cy="946397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414AF92C-3AC0-3E10-9379-425EF1D37D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083101" y="3350837"/>
                      <a:ext cx="3486609" cy="106017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2000" b="1" dirty="0"/>
                        <a:t>Reward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a14:m>
                      <a:endParaRPr lang="en-US" sz="2000" b="1" dirty="0"/>
                    </a:p>
                    <a:p>
                      <a:r>
                        <a:rPr lang="en-US" sz="2000" b="1" dirty="0"/>
                        <a:t>next-state </a:t>
                      </a:r>
                      <a14:m>
                        <m:oMath xmlns:m="http://schemas.openxmlformats.org/officeDocument/2006/math">
                          <m:r>
                            <a:rPr 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∼ </m:t>
                          </m:r>
                          <m:sSubSup>
                            <m:sSubSupPr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.|</m:t>
                              </m:r>
                              <m:sSubSup>
                                <m:sSubSup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  <m:sup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  <m:sup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</m:oMath>
                      </a14:m>
                      <a:endParaRPr lang="en-US" sz="2000" b="1" dirty="0"/>
                    </a:p>
                  </p:txBody>
                </p:sp>
              </mc:Choice>
              <mc:Fallback xmlns=""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414AF92C-3AC0-3E10-9379-425EF1D37D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083101" y="3350837"/>
                      <a:ext cx="3486609" cy="1060179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1773" b="-39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31BB15D2-D108-01F8-96A3-E36C51092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04010" y="5488865"/>
                  <a:ext cx="0" cy="1286593"/>
                </a:xfrm>
                <a:prstGeom prst="straightConnector1">
                  <a:avLst/>
                </a:prstGeom>
                <a:ln w="381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C419208B-2BF8-1A23-DAFF-7B395F479028}"/>
                    </a:ext>
                  </a:extLst>
                </p:cNvPr>
                <p:cNvGrpSpPr/>
                <p:nvPr/>
              </p:nvGrpSpPr>
              <p:grpSpPr>
                <a:xfrm>
                  <a:off x="19880619" y="5645267"/>
                  <a:ext cx="3103209" cy="907081"/>
                  <a:chOff x="22408914" y="4513954"/>
                  <a:chExt cx="1690934" cy="702260"/>
                </a:xfrm>
              </p:grpSpPr>
              <p:pic>
                <p:nvPicPr>
                  <p:cNvPr id="130" name="Graphic 129" descr="Database outline">
                    <a:extLst>
                      <a:ext uri="{FF2B5EF4-FFF2-40B4-BE49-F238E27FC236}">
                        <a16:creationId xmlns:a16="http://schemas.microsoft.com/office/drawing/2014/main" id="{6D021783-C9C7-C1BA-ABAA-EE7428DFE9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4"/>
                      </a:ext>
                    </a:extLst>
                  </a:blip>
                  <a:stretch>
                    <a:fillRect/>
                  </a:stretch>
                </p:blipFill>
                <p:spPr>
                  <a:xfrm rot="10800000" flipV="1">
                    <a:off x="23402306" y="4513954"/>
                    <a:ext cx="697542" cy="702260"/>
                  </a:xfrm>
                  <a:prstGeom prst="rect">
                    <a:avLst/>
                  </a:prstGeom>
                </p:spPr>
              </p:pic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C5F4BA50-09DF-9642-180D-87F80C879AD1}"/>
                      </a:ext>
                    </a:extLst>
                  </p:cNvPr>
                  <p:cNvSpPr txBox="1"/>
                  <p:nvPr/>
                </p:nvSpPr>
                <p:spPr>
                  <a:xfrm>
                    <a:off x="22408914" y="4660722"/>
                    <a:ext cx="1260752" cy="3479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b="1" dirty="0"/>
                      <a:t>trajectories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Alternate Process 97">
                      <a:extLst>
                        <a:ext uri="{FF2B5EF4-FFF2-40B4-BE49-F238E27FC236}">
                          <a16:creationId xmlns:a16="http://schemas.microsoft.com/office/drawing/2014/main" id="{0C45C017-6CEA-A615-D079-D1CCF68141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649702" y="4493964"/>
                      <a:ext cx="7247320" cy="980150"/>
                    </a:xfrm>
                    <a:prstGeom prst="flowChartAlternateProcess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1905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6"/>
                    </a:lnRef>
                    <a:fillRef idx="2">
                      <a:schemeClr val="accent6"/>
                    </a:fillRef>
                    <a:effectRef idx="1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3000" b="1" dirty="0"/>
                        <a:t>Nominal Environment</a:t>
                      </a:r>
                      <a14:m>
                        <m:oMath xmlns:m="http://schemas.openxmlformats.org/officeDocument/2006/math">
                          <m:r>
                            <a:rPr lang="en-US" sz="3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3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p>
                              <m:r>
                                <a:rPr lang="en-US" sz="3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a14:m>
                      <a:endParaRPr lang="en-US" sz="3000" b="1" dirty="0"/>
                    </a:p>
                  </p:txBody>
                </p:sp>
              </mc:Choice>
              <mc:Fallback xmlns="">
                <p:sp>
                  <p:nvSpPr>
                    <p:cNvPr id="98" name="Alternate Process 97">
                      <a:extLst>
                        <a:ext uri="{FF2B5EF4-FFF2-40B4-BE49-F238E27FC236}">
                          <a16:creationId xmlns:a16="http://schemas.microsoft.com/office/drawing/2014/main" id="{0C45C017-6CEA-A615-D079-D1CCF681417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649702" y="4493964"/>
                      <a:ext cx="7247320" cy="980150"/>
                    </a:xfrm>
                    <a:prstGeom prst="flowChartAlternateProcess">
                      <a:avLst/>
                    </a:prstGeom>
                    <a:blipFill>
                      <a:blip r:embed="rId25"/>
                      <a:stretch>
                        <a:fillRect b="-1408"/>
                      </a:stretch>
                    </a:blipFill>
                    <a:ln w="1905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0455683B-E358-7EE6-3CD9-0843B767C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07736" y="3230359"/>
                  <a:ext cx="0" cy="1250872"/>
                </a:xfrm>
                <a:prstGeom prst="straightConnector1">
                  <a:avLst/>
                </a:prstGeom>
                <a:ln w="38100" cap="flat" cmpd="sng" algn="ctr">
                  <a:solidFill>
                    <a:schemeClr val="dk1"/>
                  </a:solidFill>
                  <a:prstDash val="solid"/>
                  <a:round/>
                  <a:headEnd type="arrow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TextBox 99">
                      <a:extLst>
                        <a:ext uri="{FF2B5EF4-FFF2-40B4-BE49-F238E27FC236}">
                          <a16:creationId xmlns:a16="http://schemas.microsoft.com/office/drawing/2014/main" id="{1457E1B4-C8EE-EE6B-FA4E-189DA9C56A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897579" y="3498894"/>
                      <a:ext cx="2829372" cy="62108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000" b="1" dirty="0"/>
                        <a:t>Action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sz="2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</m:e>
                            <m:sup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en-US" sz="2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  <m:sup>
                                  <m:r>
                                    <a:rPr lang="en-US" sz="2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sz="2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</m:oMath>
                      </a14:m>
                      <a:endParaRPr lang="en-US" sz="2000" b="1" dirty="0"/>
                    </a:p>
                  </p:txBody>
                </p:sp>
              </mc:Choice>
              <mc:Fallback xmlns="">
                <p:sp>
                  <p:nvSpPr>
                    <p:cNvPr id="100" name="TextBox 99">
                      <a:extLst>
                        <a:ext uri="{FF2B5EF4-FFF2-40B4-BE49-F238E27FC236}">
                          <a16:creationId xmlns:a16="http://schemas.microsoft.com/office/drawing/2014/main" id="{1457E1B4-C8EE-EE6B-FA4E-189DA9C56A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897579" y="3498894"/>
                      <a:ext cx="2829372" cy="621084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219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Alternate Process 100">
                      <a:extLst>
                        <a:ext uri="{FF2B5EF4-FFF2-40B4-BE49-F238E27FC236}">
                          <a16:creationId xmlns:a16="http://schemas.microsoft.com/office/drawing/2014/main" id="{4BB9A8D3-BCBA-8FF9-4A97-68BFBE03C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649702" y="6737517"/>
                      <a:ext cx="7247320" cy="1552752"/>
                    </a:xfrm>
                    <a:prstGeom prst="flowChartAlternateProcess">
                      <a:avLst/>
                    </a:prstGeom>
                    <a:solidFill>
                      <a:srgbClr val="FFFFCD"/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6"/>
                    </a:lnRef>
                    <a:fillRef idx="2">
                      <a:schemeClr val="accent6"/>
                    </a:fillRef>
                    <a:effectRef idx="1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3000" b="1" dirty="0"/>
                        <a:t>  Update online data buffer 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30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𝓓</m:t>
                              </m:r>
                            </m:e>
                            <m:sub>
                              <m:r>
                                <a:rPr lang="en-US" sz="3000" b="1" i="0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sz="3000" b="1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b="1" i="0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sz="3000" b="1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30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←</m:t>
                          </m:r>
                          <m:sSubSup>
                            <m:sSubSupPr>
                              <m:ctrlPr>
                                <a:rPr lang="en-US" sz="3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𝓓</m:t>
                              </m:r>
                            </m:e>
                            <m:sub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30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nary>
                            <m:naryPr>
                              <m:chr m:val="⋃"/>
                              <m:subHide m:val="on"/>
                              <m:supHide m:val="on"/>
                              <m:ctrlPr>
                                <a:rPr lang="en-US" sz="3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3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3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3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𝐬</m:t>
                                          </m:r>
                                        </m:e>
                                        <m:sub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sub>
                                        <m:sup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sz="3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3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𝐚</m:t>
                                          </m:r>
                                        </m:e>
                                        <m:sub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sub>
                                        <m:sup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sz="3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3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sub>
                                        <m:sup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sz="30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3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𝐬</m:t>
                                          </m:r>
                                        </m:e>
                                        <m:sub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sz="30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</m:nary>
                        </m:oMath>
                      </a14:m>
                      <a:r>
                        <a:rPr lang="en-US" sz="3000" b="1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1" name="Alternate Process 100">
                      <a:extLst>
                        <a:ext uri="{FF2B5EF4-FFF2-40B4-BE49-F238E27FC236}">
                          <a16:creationId xmlns:a16="http://schemas.microsoft.com/office/drawing/2014/main" id="{4BB9A8D3-BCBA-8FF9-4A97-68BFBE03C1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649702" y="6737517"/>
                      <a:ext cx="7247320" cy="1552752"/>
                    </a:xfrm>
                    <a:prstGeom prst="flowChartAlternateProcess">
                      <a:avLst/>
                    </a:prstGeom>
                    <a:blipFill>
                      <a:blip r:embed="rId27"/>
                      <a:stretch>
                        <a:fillRect b="-52252"/>
                      </a:stretch>
                    </a:blipFill>
                    <a:ln w="190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FD9BAE5-CC44-0B6C-1FF7-FB128C1CC80F}"/>
                    </a:ext>
                  </a:extLst>
                </p:cNvPr>
                <p:cNvSpPr txBox="1"/>
                <p:nvPr/>
              </p:nvSpPr>
              <p:spPr>
                <a:xfrm>
                  <a:off x="23004010" y="5800841"/>
                  <a:ext cx="2487261" cy="6222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rgbClr val="0432FF"/>
                      </a:solidFill>
                    </a:rPr>
                    <a:t>Data</a:t>
                  </a:r>
                  <a:r>
                    <a:rPr lang="en-US" sz="2800" b="1" dirty="0">
                      <a:solidFill>
                        <a:srgbClr val="0432FF"/>
                      </a:solidFill>
                    </a:rPr>
                    <a:t> update</a:t>
                  </a:r>
                  <a:endParaRPr lang="en-US" sz="2800" dirty="0"/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CBA00BF-F5D0-C709-590A-F0385099362F}"/>
                    </a:ext>
                  </a:extLst>
                </p:cNvPr>
                <p:cNvSpPr txBox="1"/>
                <p:nvPr/>
              </p:nvSpPr>
              <p:spPr>
                <a:xfrm>
                  <a:off x="19252384" y="1271195"/>
                  <a:ext cx="7802620" cy="622237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15294"/>
                  </a:schemeClr>
                </a:solidFill>
                <a:ln w="190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rgbClr val="29419E"/>
                      </a:solidFill>
                    </a:rPr>
                    <a:t>Interaction with Nominal Env. &amp; Data update</a:t>
                  </a:r>
                  <a:endParaRPr lang="en-US" sz="3000" dirty="0">
                    <a:solidFill>
                      <a:srgbClr val="29419E"/>
                    </a:solidFill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B019BD75-CE53-0ED7-DB81-3586A403116A}"/>
                    </a:ext>
                  </a:extLst>
                </p:cNvPr>
                <p:cNvSpPr txBox="1"/>
                <p:nvPr/>
              </p:nvSpPr>
              <p:spPr>
                <a:xfrm>
                  <a:off x="27222005" y="1279170"/>
                  <a:ext cx="9123869" cy="622237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15294"/>
                  </a:schemeClr>
                </a:solidFill>
                <a:ln w="28575">
                  <a:noFill/>
                </a:ln>
              </p:spPr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rgbClr val="29419E"/>
                      </a:solidFill>
                    </a:rPr>
                    <a:t>Dual Robust Bellman Learning (Our Core)</a:t>
                  </a:r>
                  <a:endParaRPr lang="en-US" sz="3000" dirty="0">
                    <a:solidFill>
                      <a:srgbClr val="29419E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F073565C-2C02-F2AD-92EA-1800F3DB63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543565" y="1298905"/>
                      <a:ext cx="6785585" cy="622236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  <a:alpha val="14510"/>
                      </a:schemeClr>
                    </a:solidFill>
                    <a:ln w="28575">
                      <a:noFill/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29419E"/>
                          </a:solidFill>
                        </a:rPr>
                        <a:t>Confidence set over functional class </a:t>
                      </a:r>
                      <a14:m>
                        <m:oMath xmlns:m="http://schemas.openxmlformats.org/officeDocument/2006/math">
                          <m:r>
                            <a:rPr lang="en-US" sz="3000" b="1" i="1" smtClean="0">
                              <a:solidFill>
                                <a:srgbClr val="29419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𝓕</m:t>
                          </m:r>
                        </m:oMath>
                      </a14:m>
                      <a:endParaRPr lang="en-US" sz="3000" dirty="0">
                        <a:solidFill>
                          <a:srgbClr val="29419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F073565C-2C02-F2AD-92EA-1800F3DB63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543565" y="1298905"/>
                      <a:ext cx="6785585" cy="622236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l="-1463" t="-13333" b="-31111"/>
                      </a:stretch>
                    </a:blipFill>
                    <a:ln w="28575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3DA9C55-1214-89F6-5718-2156F09F9F59}"/>
                    </a:ext>
                  </a:extLst>
                </p:cNvPr>
                <p:cNvSpPr txBox="1"/>
                <p:nvPr/>
              </p:nvSpPr>
              <p:spPr>
                <a:xfrm>
                  <a:off x="43477915" y="1273821"/>
                  <a:ext cx="7527775" cy="622237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14902"/>
                  </a:schemeClr>
                </a:solidFill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rgbClr val="29419E"/>
                      </a:solidFill>
                    </a:rPr>
                    <a:t>Optimistic Robust Planning &amp; Greedy Policy</a:t>
                  </a:r>
                  <a:endParaRPr lang="en-US" sz="3000" dirty="0">
                    <a:solidFill>
                      <a:srgbClr val="29419E"/>
                    </a:solidFill>
                  </a:endParaRPr>
                </a:p>
              </p:txBody>
            </p: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02AB6B2D-E078-8887-C70E-4671D9203D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114420" y="1162472"/>
                  <a:ext cx="0" cy="8708423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EB262A36-1750-B520-A5DB-F56730F6F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2103" y="1057909"/>
                  <a:ext cx="0" cy="8812986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16C9144A-CD3B-3062-99E4-88013FBD8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366011" y="1057909"/>
                  <a:ext cx="3854" cy="8812986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0" name="Alternate Process 109">
                      <a:extLst>
                        <a:ext uri="{FF2B5EF4-FFF2-40B4-BE49-F238E27FC236}">
                          <a16:creationId xmlns:a16="http://schemas.microsoft.com/office/drawing/2014/main" id="{162A86E4-8759-A4A1-072F-4FA2491EDC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691996" y="2028383"/>
                      <a:ext cx="7247459" cy="1194281"/>
                    </a:xfrm>
                    <a:prstGeom prst="flowChartAlternateProcess">
                      <a:avLst/>
                    </a:prstGeom>
                    <a:solidFill>
                      <a:srgbClr val="FFFF00">
                        <a:alpha val="26275"/>
                      </a:srgbClr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6"/>
                    </a:lnRef>
                    <a:fillRef idx="2">
                      <a:schemeClr val="accent6"/>
                    </a:fillRef>
                    <a:effectRef idx="1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3000" b="1" dirty="0"/>
                        <a:t>Agent </a:t>
                      </a:r>
                      <a14:m>
                        <m:oMath xmlns:m="http://schemas.openxmlformats.org/officeDocument/2006/math">
                          <m:d>
                            <m:dPr>
                              <m:ctrlPr>
                                <a:rPr lang="en-US" sz="3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3000" b="1" dirty="0">
                                  <a:solidFill>
                                    <a:srgbClr val="FF0000"/>
                                  </a:solidFill>
                                </a:rPr>
                                <m:t>robust</m:t>
                              </m:r>
                              <m:r>
                                <m:rPr>
                                  <m:nor/>
                                </m:rPr>
                                <a:rPr lang="en-US" sz="3000" b="1" dirty="0">
                                  <a:solidFill>
                                    <a:srgbClr val="FF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 b="1" dirty="0">
                                  <a:solidFill>
                                    <a:srgbClr val="FF0000"/>
                                  </a:solidFill>
                                </a:rPr>
                                <m:t>policy</m:t>
                              </m:r>
                              <m:r>
                                <m:rPr>
                                  <m:nor/>
                                </m:rPr>
                                <a:rPr lang="en-US" sz="3000" b="1" dirty="0">
                                  <a:solidFill>
                                    <a:srgbClr val="FF0000"/>
                                  </a:solidFill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p>
                                  <m:r>
                                    <a:rPr lang="en-US" sz="3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p>
                              </m:sSup>
                              <m:r>
                                <a:rPr lang="en-US" sz="3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𝛑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sz="3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p>
                                      <m:r>
                                        <a:rPr lang="en-US" sz="3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3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sz="3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d>
                        </m:oMath>
                      </a14:m>
                      <a:r>
                        <a:rPr lang="en-US" sz="3000" b="1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10" name="Alternate Process 109">
                      <a:extLst>
                        <a:ext uri="{FF2B5EF4-FFF2-40B4-BE49-F238E27FC236}">
                          <a16:creationId xmlns:a16="http://schemas.microsoft.com/office/drawing/2014/main" id="{162A86E4-8759-A4A1-072F-4FA2491EDC8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691996" y="2028383"/>
                      <a:ext cx="7247459" cy="1194281"/>
                    </a:xfrm>
                    <a:prstGeom prst="flowChartAlternateProcess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  <a:ln w="190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054B32D2-F325-3494-86A8-371A91A41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747900" y="3223775"/>
                  <a:ext cx="0" cy="1306699"/>
                </a:xfrm>
                <a:prstGeom prst="straightConnector1">
                  <a:avLst/>
                </a:prstGeom>
                <a:ln w="38100" cap="flat" cmpd="sng" algn="ctr">
                  <a:solidFill>
                    <a:schemeClr val="dk1"/>
                  </a:solidFill>
                  <a:prstDash val="sysDot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3895D9B9-A2AB-A243-4851-0BC9C2A9A817}"/>
                    </a:ext>
                  </a:extLst>
                </p:cNvPr>
                <p:cNvGrpSpPr/>
                <p:nvPr/>
              </p:nvGrpSpPr>
              <p:grpSpPr>
                <a:xfrm>
                  <a:off x="27241249" y="1993422"/>
                  <a:ext cx="9123868" cy="6158666"/>
                  <a:chOff x="3309905" y="1539769"/>
                  <a:chExt cx="3531109" cy="35249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D2CAC23B-7F6C-9B06-9EC6-B9E6333CA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09905" y="1539769"/>
                        <a:ext cx="3531109" cy="3524992"/>
                      </a:xfrm>
                      <a:prstGeom prst="rect">
                        <a:avLst/>
                      </a:prstGeom>
                      <a:solidFill>
                        <a:srgbClr val="29419E">
                          <a:alpha val="19608"/>
                        </a:srgbClr>
                      </a:solidFill>
                      <a:ln w="28575">
                        <a:solidFill>
                          <a:srgbClr val="0432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n-US" sz="32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10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pPr marL="228600" indent="-228600">
                          <a:buAutoNum type="arabicPeriod"/>
                        </a:pPr>
                        <a:r>
                          <a:rPr lang="en-US" sz="3000" b="1" dirty="0">
                            <a:solidFill>
                              <a:srgbClr val="FF0000"/>
                            </a:solidFill>
                          </a:rPr>
                          <a:t> </a:t>
                        </a:r>
                        <a:r>
                          <a:rPr lang="en-US" sz="2800" b="1" dirty="0">
                            <a:solidFill>
                              <a:srgbClr val="FF0000"/>
                            </a:solidFill>
                          </a:rPr>
                          <a:t>Learn dual function </a:t>
                        </a:r>
                        <a14:m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chemeClr val="tx1"/>
                                    </a:solidFill>
                                  </a:rPr>
                                  <m:t>for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chemeClr val="tx1"/>
                                    </a:solidFill>
                                  </a:rPr>
                                  <m:t>any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800" b="1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Sup>
                                  <m:sSubSupPr>
                                    <m:ctrlPr>
                                      <a:rPr lang="en-US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𝓕</m:t>
                                    </m:r>
                                  </m:e>
                                  <m:sub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𝐡</m:t>
                                    </m:r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sz="28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d>
                          </m:oMath>
                        </a14:m>
                        <a:endParaRPr lang="en-US" sz="30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endParaRPr lang="en-US" sz="28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r>
                          <a:rPr lang="en-US" sz="3200" b="1" dirty="0">
                            <a:solidFill>
                              <a:srgbClr val="FF0000"/>
                            </a:solidFill>
                          </a:rPr>
                          <a:t>2. </a:t>
                        </a:r>
                        <a:r>
                          <a:rPr lang="en-US" sz="2800" b="1" dirty="0">
                            <a:solidFill>
                              <a:srgbClr val="FF0000"/>
                            </a:solidFill>
                          </a:rPr>
                          <a:t>Approximate robust Bellman backup</a:t>
                        </a:r>
                        <a:endParaRPr lang="en-US" sz="28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pPr marL="228600" indent="-228600">
                          <a:buAutoNum type="arabicPeriod"/>
                        </a:pPr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b="1" dirty="0">
                          <a:solidFill>
                            <a:srgbClr val="FF0000"/>
                          </a:solidFill>
                        </a:endParaRPr>
                      </a:p>
                      <a:p>
                        <a:r>
                          <a:rPr lang="en-US" sz="3200" b="1" dirty="0">
                            <a:solidFill>
                              <a:srgbClr val="FF0000"/>
                            </a:solidFill>
                          </a:rPr>
                          <a:t>3. </a:t>
                        </a:r>
                        <a:r>
                          <a:rPr lang="en-US" sz="2800" b="1" dirty="0">
                            <a:solidFill>
                              <a:srgbClr val="FF0000"/>
                            </a:solidFill>
                          </a:rPr>
                          <a:t>Compute loss for candidate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sz="28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</m:sSub>
                          </m:oMath>
                        </a14:m>
                        <a:r>
                          <a:rPr lang="en-US" sz="2800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  <a:p>
                        <a:pPr marL="228600" indent="-228600">
                          <a:buAutoNum type="arabicPeriod"/>
                        </a:pPr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pPr marL="228600" indent="-228600">
                          <a:buAutoNum type="arabicPeriod"/>
                        </a:pPr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  <a:p>
                        <a:endParaRPr lang="en-US" sz="32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D2CAC23B-7F6C-9B06-9EC6-B9E6333CA3E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309905" y="1539769"/>
                        <a:ext cx="3531109" cy="3524992"/>
                      </a:xfrm>
                      <a:prstGeom prst="rect">
                        <a:avLst/>
                      </a:prstGeom>
                      <a:blipFill>
                        <a:blip r:embed="rId30"/>
                        <a:stretch>
                          <a:fillRect l="-1488"/>
                        </a:stretch>
                      </a:blipFill>
                      <a:ln w="28575">
                        <a:solidFill>
                          <a:srgbClr val="0432FF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6" name="Rounded Rectangle 125">
                        <a:extLst>
                          <a:ext uri="{FF2B5EF4-FFF2-40B4-BE49-F238E27FC236}">
                            <a16:creationId xmlns:a16="http://schemas.microsoft.com/office/drawing/2014/main" id="{7013D46A-1DBA-8EFB-9FF4-BB8B1B849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01493" y="2049649"/>
                        <a:ext cx="3112716" cy="558443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0432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bar>
                                    <m:barPr>
                                      <m:ctrlP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ba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28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sz="28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unc>
                                <m:funcPr>
                                  <m:ctrlP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𝐚𝐫𝐠𝐦𝐢𝐧</m:t>
                                      </m:r>
                                    </m:e>
                                    <m:lim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∈ </m:t>
                                      </m:r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𝓖</m:t>
                                      </m:r>
                                    </m:lim>
                                  </m:limLow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8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1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𝐃𝐮𝐚𝐥𝐋𝐨𝐬𝐬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sub>
                                    <m:sup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sz="28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𝐠</m:t>
                                  </m:r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en-US" sz="28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  <m:r>
                                    <a:rPr lang="en-US" sz="28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30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6" name="Rounded Rectangle 125">
                        <a:extLst>
                          <a:ext uri="{FF2B5EF4-FFF2-40B4-BE49-F238E27FC236}">
                            <a16:creationId xmlns:a16="http://schemas.microsoft.com/office/drawing/2014/main" id="{7013D46A-1DBA-8EFB-9FF4-BB8B1B849C9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01493" y="2049649"/>
                        <a:ext cx="3112716" cy="558443"/>
                      </a:xfrm>
                      <a:prstGeom prst="roundRect">
                        <a:avLst/>
                      </a:prstGeom>
                      <a:blipFill>
                        <a:blip r:embed="rId31"/>
                        <a:stretch>
                          <a:fillRect b="-8571"/>
                        </a:stretch>
                      </a:blipFill>
                      <a:ln w="12700">
                        <a:solidFill>
                          <a:srgbClr val="0432FF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27" name="Straight Arrow Connector 126">
                    <a:extLst>
                      <a:ext uri="{FF2B5EF4-FFF2-40B4-BE49-F238E27FC236}">
                        <a16:creationId xmlns:a16="http://schemas.microsoft.com/office/drawing/2014/main" id="{DFE95D57-D68D-C36C-B656-E51A81A9E4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3664" y="2603569"/>
                    <a:ext cx="0" cy="293917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8" name="Rounded Rectangle 127">
                        <a:extLst>
                          <a:ext uri="{FF2B5EF4-FFF2-40B4-BE49-F238E27FC236}">
                            <a16:creationId xmlns:a16="http://schemas.microsoft.com/office/drawing/2014/main" id="{E44AA9C0-C9D3-48C4-98AB-670F30E1A1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4912" y="3259546"/>
                        <a:ext cx="3112716" cy="558443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0432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𝓣</m:t>
                                    </m:r>
                                  </m:e>
                                </m:acc>
                              </m:e>
                              <m:sub>
                                <m:sSubSup>
                                  <m:sSubSupPr>
                                    <m:ctrlPr>
                                      <a:rPr lang="en-US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bar>
                                      <m:barPr>
                                        <m:ctrlPr>
                                          <a:rPr lang="en-US" sz="28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</m:ba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8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sub>
                              <m:sup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𝝓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a14:m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 (</a:t>
                        </a:r>
                        <a:r>
                          <a:rPr lang="en-US" sz="2800" dirty="0">
                            <a:solidFill>
                              <a:schemeClr val="tx1"/>
                            </a:solidFill>
                          </a:rPr>
                          <a:t>dual-based robust Bellman operator</a:t>
                        </a:r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)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128" name="Rounded Rectangle 127">
                        <a:extLst>
                          <a:ext uri="{FF2B5EF4-FFF2-40B4-BE49-F238E27FC236}">
                            <a16:creationId xmlns:a16="http://schemas.microsoft.com/office/drawing/2014/main" id="{E44AA9C0-C9D3-48C4-98AB-670F30E1A13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14912" y="3259546"/>
                        <a:ext cx="3112716" cy="558443"/>
                      </a:xfrm>
                      <a:prstGeom prst="roundRect">
                        <a:avLst/>
                      </a:prstGeom>
                      <a:blipFill>
                        <a:blip r:embed="rId32"/>
                        <a:stretch>
                          <a:fillRect b="-4286"/>
                        </a:stretch>
                      </a:blipFill>
                      <a:ln w="12700">
                        <a:solidFill>
                          <a:srgbClr val="0432FF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9" name="Rounded Rectangle 128">
                        <a:extLst>
                          <a:ext uri="{FF2B5EF4-FFF2-40B4-BE49-F238E27FC236}">
                            <a16:creationId xmlns:a16="http://schemas.microsoft.com/office/drawing/2014/main" id="{497F4BEC-9C6E-AFFB-7A9F-D4551EC171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77764" y="4514168"/>
                        <a:ext cx="3112716" cy="424403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0432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𝓛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bar>
                                      <m:barPr>
                                        <m:ctrlPr>
                                          <a:rPr lang="en-US" sz="28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</m:ba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8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sz="28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d>
                          </m:oMath>
                        </a14:m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 -- robust fitting loss on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𝓓</m:t>
                                </m:r>
                              </m:e>
                              <m:sub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  <m:sup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sz="2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a14:m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129" name="Rounded Rectangle 128">
                        <a:extLst>
                          <a:ext uri="{FF2B5EF4-FFF2-40B4-BE49-F238E27FC236}">
                            <a16:creationId xmlns:a16="http://schemas.microsoft.com/office/drawing/2014/main" id="{497F4BEC-9C6E-AFFB-7A9F-D4551EC1716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77764" y="4514168"/>
                        <a:ext cx="3112716" cy="424403"/>
                      </a:xfrm>
                      <a:prstGeom prst="roundRect">
                        <a:avLst/>
                      </a:prstGeom>
                      <a:blipFill>
                        <a:blip r:embed="rId33"/>
                        <a:stretch>
                          <a:fillRect b="-14815"/>
                        </a:stretch>
                      </a:blipFill>
                      <a:ln w="12700">
                        <a:solidFill>
                          <a:srgbClr val="0432FF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Rectangle 112">
                      <a:extLst>
                        <a:ext uri="{FF2B5EF4-FFF2-40B4-BE49-F238E27FC236}">
                          <a16:creationId xmlns:a16="http://schemas.microsoft.com/office/drawing/2014/main" id="{73148FF8-18ED-1CD5-3140-A3CB9FB71C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66211" y="1997099"/>
                      <a:ext cx="6570082" cy="6162185"/>
                    </a:xfrm>
                    <a:prstGeom prst="rect">
                      <a:avLst/>
                    </a:prstGeom>
                    <a:solidFill>
                      <a:srgbClr val="D9F2D0">
                        <a:alpha val="59608"/>
                      </a:srgbClr>
                    </a:solidFill>
                    <a:ln w="28575">
                      <a:solidFill>
                        <a:srgbClr val="92D05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Build confidence set for step h:</a:t>
                      </a:r>
                    </a:p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𝓕</m:t>
                                </m:r>
                              </m:e>
                              <m:sub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sub>
                              <m:sup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sz="3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0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sz="30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sub>
                                    </m:sSub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 </m:t>
                                    </m:r>
                                    <m:sSub>
                                      <m:sSubPr>
                                        <m:ctrlP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0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𝓕</m:t>
                                        </m:r>
                                      </m:e>
                                      <m:sub>
                                        <m:r>
                                          <a:rPr lang="en-US" sz="30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sub>
                                    </m:sSub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: 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sz="3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30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𝓛</m:t>
                                        </m:r>
                                      </m:e>
                                      <m:sub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sub>
                                      <m:sup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𝐤</m:t>
                                        </m:r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US" sz="3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𝐟</m:t>
                                            </m:r>
                                          </m:e>
                                          <m:sub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sub>
                                        </m:sSub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𝐟</m:t>
                                            </m:r>
                                          </m:e>
                                          <m:sub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3000" b="1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3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bar>
                                              <m:bar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barPr>
                                              <m:e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𝐠</m:t>
                                                </m:r>
                                              </m:e>
                                            </m:ba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</m:sub>
                                          <m:sup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𝐤</m:t>
                                            </m:r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e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func>
                                      <m:funcPr>
                                        <m:ctrlP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US" sz="3000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a:rPr lang="en-US" sz="3000" b="1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𝐦𝐢𝐧</m:t>
                                            </m:r>
                                          </m:e>
                                          <m:lim>
                                            <m:sSub>
                                              <m:sSub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𝐟</m:t>
                                                </m:r>
                                                <m:r>
                                                  <a:rPr lang="en-US" sz="3000" b="1" i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∈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𝓕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sub>
                                            </m:sSub>
                                          </m:lim>
                                        </m:limLow>
                                      </m:fName>
                                      <m:e>
                                        <m:sSubSup>
                                          <m:sSubSupPr>
                                            <m:ctrlPr>
                                              <a:rPr lang="en-US" sz="3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𝓛</m:t>
                                            </m:r>
                                          </m:e>
                                          <m:sub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sub>
                                          <m:sup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𝐤</m:t>
                                            </m:r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en-US" sz="30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𝐟</m:t>
                                                </m:r>
                                                <m:r>
                                                  <a:rPr lang="en-US" sz="3000" b="1" i="0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3000" b="1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US" sz="3000" b="1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bar>
                                                  <m:barPr>
                                                    <m:ctrlPr>
                                                      <a:rPr lang="en-US" sz="3000" b="1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barPr>
                                                  <m:e>
                                                    <m:r>
                                                      <a:rPr lang="en-US" sz="3000" b="1" i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𝐠</m:t>
                                                    </m:r>
                                                  </m:e>
                                                </m:ba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sz="3000" b="1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3000" b="1" i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3000" b="1" i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𝐡</m:t>
                                                    </m:r>
                                                    <m:r>
                                                      <a:rPr lang="en-US" sz="3000" b="1" i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3000" b="1" i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𝟏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  <m:sup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𝐤</m:t>
                                                </m:r>
                                                <m:r>
                                                  <a:rPr lang="en-US" sz="3000" b="1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func>
                                  </m:e>
                                  <m:e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𝛃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 ∀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𝐡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∈[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𝐇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eqArr>
                              </m:e>
                            </m:d>
                          </m:oMath>
                        </m:oMathPara>
                      </a14:m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AutoNum type="arabicPeriod"/>
                      </a:pP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Rectangle 112">
                      <a:extLst>
                        <a:ext uri="{FF2B5EF4-FFF2-40B4-BE49-F238E27FC236}">
                          <a16:creationId xmlns:a16="http://schemas.microsoft.com/office/drawing/2014/main" id="{73148FF8-18ED-1CD5-3140-A3CB9FB71C8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666211" y="1997099"/>
                      <a:ext cx="6570082" cy="6162185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 l="-1876"/>
                      </a:stretch>
                    </a:blipFill>
                    <a:ln w="28575">
                      <a:solidFill>
                        <a:srgbClr val="92D05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E86D73D2-F780-3F87-D633-62F16489AB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347381" y="5497787"/>
                  <a:ext cx="307448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Rectangle 114">
                      <a:extLst>
                        <a:ext uri="{FF2B5EF4-FFF2-40B4-BE49-F238E27FC236}">
                          <a16:creationId xmlns:a16="http://schemas.microsoft.com/office/drawing/2014/main" id="{86081B93-1C75-F821-9E19-990B5789B6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27194" y="1994020"/>
                      <a:ext cx="7527775" cy="2207655"/>
                    </a:xfrm>
                    <a:prstGeom prst="rect">
                      <a:avLst/>
                    </a:prstGeom>
                    <a:solidFill>
                      <a:srgbClr val="FBE3D6">
                        <a:alpha val="60000"/>
                      </a:srgbClr>
                    </a:solidFill>
                    <a:ln w="28575">
                      <a:solidFill>
                        <a:srgbClr val="EA881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Optimistic robust value estimation</a:t>
                      </a:r>
                    </a:p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p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3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sz="3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𝐚𝐫𝐠𝐦𝐚𝐱</m:t>
                                    </m:r>
                                  </m:e>
                                  <m:lim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𝓕</m:t>
                                        </m:r>
                                      </m:e>
                                      <m:sup>
                                        <m: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3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p>
                                </m:sSubSup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sz="3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func>
                          </m:oMath>
                        </m:oMathPara>
                      </a14:m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5" name="Rectangle 114">
                      <a:extLst>
                        <a:ext uri="{FF2B5EF4-FFF2-40B4-BE49-F238E27FC236}">
                          <a16:creationId xmlns:a16="http://schemas.microsoft.com/office/drawing/2014/main" id="{86081B93-1C75-F821-9E19-990B5789B6A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27194" y="1994020"/>
                      <a:ext cx="7527775" cy="2207655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 l="-1639"/>
                      </a:stretch>
                    </a:blipFill>
                    <a:ln w="28575">
                      <a:solidFill>
                        <a:srgbClr val="EA881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E7DB646F-F5F0-CFFB-5FE8-80D5FABF5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49409" y="3310698"/>
                  <a:ext cx="321198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30242556-238E-316C-5C08-AACCF04A3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83333" y="4212539"/>
                  <a:ext cx="0" cy="537383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Rectangle 117">
                      <a:extLst>
                        <a:ext uri="{FF2B5EF4-FFF2-40B4-BE49-F238E27FC236}">
                          <a16:creationId xmlns:a16="http://schemas.microsoft.com/office/drawing/2014/main" id="{28C5E65C-E905-C732-64F5-2C65E30CC6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27198" y="4750288"/>
                      <a:ext cx="7507463" cy="3408994"/>
                    </a:xfrm>
                    <a:prstGeom prst="rect">
                      <a:avLst/>
                    </a:prstGeom>
                    <a:solidFill>
                      <a:srgbClr val="FBE3D6"/>
                    </a:solidFill>
                    <a:ln w="28575">
                      <a:solidFill>
                        <a:srgbClr val="EA881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                                               </a:t>
                      </a:r>
                    </a:p>
                    <a:p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Greedy robust policy</a:t>
                      </a:r>
                    </a:p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𝛑</m:t>
                                </m:r>
                              </m:e>
                              <m:sup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3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sSup>
                              <m:sSupPr>
                                <m:ctrlPr>
                                  <a:rPr lang="en-US" sz="3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𝛑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sz="3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p>
                                    <m:r>
                                      <a:rPr lang="en-US" sz="30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sz="30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sup>
                            </m:sSup>
                          </m:oMath>
                        </m:oMathPara>
                      </a14:m>
                      <a:endParaRPr lang="en-US" sz="30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- Choose the </a:t>
                      </a:r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most optimistic value function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 in the </a:t>
                      </a:r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confidence set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act greedily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8" name="Rectangle 117">
                      <a:extLst>
                        <a:ext uri="{FF2B5EF4-FFF2-40B4-BE49-F238E27FC236}">
                          <a16:creationId xmlns:a16="http://schemas.microsoft.com/office/drawing/2014/main" id="{28C5E65C-E905-C732-64F5-2C65E30CC6D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27198" y="4750288"/>
                      <a:ext cx="7507463" cy="3408994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 l="-1642" r="-821"/>
                      </a:stretch>
                    </a:blipFill>
                    <a:ln w="28575">
                      <a:solidFill>
                        <a:srgbClr val="EA881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9" name="Elbow Connector 118">
                  <a:extLst>
                    <a:ext uri="{FF2B5EF4-FFF2-40B4-BE49-F238E27FC236}">
                      <a16:creationId xmlns:a16="http://schemas.microsoft.com/office/drawing/2014/main" id="{AE7DB57F-F97A-AF6B-DDB0-DA4C9CC5FE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19179388" y="1057910"/>
                  <a:ext cx="31897422" cy="12617"/>
                </a:xfrm>
                <a:prstGeom prst="bentConnector3">
                  <a:avLst>
                    <a:gd name="adj1" fmla="val -263"/>
                  </a:avLst>
                </a:prstGeom>
                <a:ln w="381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3B0A7A4E-7535-E178-CBC1-BE3C906C9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158765" y="1070528"/>
                  <a:ext cx="14862" cy="173115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BD17196F-1FBC-5426-0F5E-627F0630FC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60748" y="2801680"/>
                  <a:ext cx="540715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8D3CACB2-DB3E-5E09-B720-8F73A6C833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897022" y="7320205"/>
                  <a:ext cx="721929" cy="421586"/>
                </a:xfrm>
                <a:prstGeom prst="rect">
                  <a:avLst/>
                </a:prstGeom>
              </p:spPr>
            </p:pic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3959D43A-9189-4DED-1A3B-00F6F37A4C15}"/>
                    </a:ext>
                  </a:extLst>
                </p:cNvPr>
                <p:cNvSpPr txBox="1"/>
                <p:nvPr/>
              </p:nvSpPr>
              <p:spPr>
                <a:xfrm>
                  <a:off x="47609514" y="406921"/>
                  <a:ext cx="3534661" cy="51853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212529"/>
                      </a:solidFill>
                    </a:rPr>
                    <a:t>Repeat over episodes k</a:t>
                  </a:r>
                  <a:endParaRPr lang="en-US" sz="2400" b="1" dirty="0"/>
                </a:p>
              </p:txBody>
            </p: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E0313436-0B4E-4810-A321-C7F7B2CEB1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214831" y="5977583"/>
                  <a:ext cx="0" cy="51351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C315CC4-168D-88A4-F8B6-2E3D6CC62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275804" y="1923353"/>
                <a:ext cx="16161" cy="5428499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2A3C2AB-B3F4-3C10-E887-80BA3842C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42233" y="7356543"/>
                <a:ext cx="162817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CEEA680-8CE9-BC0D-86CE-C500CB367E1A}"/>
                    </a:ext>
                  </a:extLst>
                </p:cNvPr>
                <p:cNvSpPr txBox="1"/>
                <p:nvPr/>
              </p:nvSpPr>
              <p:spPr>
                <a:xfrm>
                  <a:off x="8766217" y="24591428"/>
                  <a:ext cx="9335775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SzPct val="150000"/>
                  </a:pPr>
                  <a:r>
                    <a:rPr lang="en-US" sz="2800" b="1" dirty="0">
                      <a:solidFill>
                        <a:srgbClr val="521B93"/>
                      </a:solidFill>
                    </a:rPr>
                    <a:t>Core Update:  </a:t>
                  </a:r>
                  <a:r>
                    <a:rPr lang="en-US" sz="2800" i="1" dirty="0">
                      <a:solidFill>
                        <a:srgbClr val="521B93"/>
                      </a:solidFill>
                    </a:rPr>
                    <a:t>for each candidate value function, fits a dual function g in </a:t>
                  </a:r>
                  <a14:m>
                    <m:oMath xmlns:m="http://schemas.openxmlformats.org/officeDocument/2006/math">
                      <m:r>
                        <a:rPr lang="en-US" sz="2800" b="0" i="1">
                          <a:solidFill>
                            <a:srgbClr val="521B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</m:oMath>
                  </a14:m>
                  <a:r>
                    <a:rPr lang="en-US" sz="2800" i="1" dirty="0">
                      <a:solidFill>
                        <a:srgbClr val="521B93"/>
                      </a:solidFill>
                    </a:rPr>
                    <a:t>, approximate the robust backup, then retain functions with small robust fitting loss.</a:t>
                  </a: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CEEA680-8CE9-BC0D-86CE-C500CB367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217" y="24591428"/>
                  <a:ext cx="9335775" cy="1384995"/>
                </a:xfrm>
                <a:prstGeom prst="rect">
                  <a:avLst/>
                </a:prstGeom>
                <a:blipFill>
                  <a:blip r:embed="rId38"/>
                  <a:stretch>
                    <a:fillRect l="-815" t="-4545" r="-1495" b="-1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E65B3B6-7028-549F-0D5F-408A1812A62F}"/>
                </a:ext>
              </a:extLst>
            </p:cNvPr>
            <p:cNvSpPr txBox="1"/>
            <p:nvPr/>
          </p:nvSpPr>
          <p:spPr>
            <a:xfrm>
              <a:off x="18432549" y="24591428"/>
              <a:ext cx="6750752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SzPct val="150000"/>
              </a:pPr>
              <a:r>
                <a:rPr lang="en-US" sz="2800" b="1" dirty="0">
                  <a:solidFill>
                    <a:schemeClr val="accent3">
                      <a:lumMod val="50000"/>
                    </a:schemeClr>
                  </a:solidFill>
                </a:rPr>
                <a:t>Confidence Set:  </a:t>
              </a:r>
              <a:r>
                <a:rPr lang="en-US" sz="2800" i="1" dirty="0">
                  <a:solidFill>
                    <a:schemeClr val="accent3">
                      <a:lumMod val="50000"/>
                    </a:schemeClr>
                  </a:solidFill>
                </a:rPr>
                <a:t>Global uncertainty is controlled at the function level—not by state-action bonuses.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AAC88F5-76A1-5404-DAF2-C2159EB96971}"/>
                </a:ext>
              </a:extLst>
            </p:cNvPr>
            <p:cNvSpPr txBox="1"/>
            <p:nvPr/>
          </p:nvSpPr>
          <p:spPr>
            <a:xfrm>
              <a:off x="25482161" y="24591428"/>
              <a:ext cx="766743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SzPct val="150000"/>
              </a:pPr>
              <a:r>
                <a:rPr lang="en-US" sz="2800" b="1" dirty="0">
                  <a:solidFill>
                    <a:schemeClr val="accent6">
                      <a:lumMod val="50000"/>
                    </a:schemeClr>
                  </a:solidFill>
                </a:rPr>
                <a:t>Optimism:  </a:t>
              </a:r>
              <a:r>
                <a:rPr lang="en-US" sz="2800" i="1" dirty="0">
                  <a:solidFill>
                    <a:schemeClr val="accent6">
                      <a:lumMod val="50000"/>
                    </a:schemeClr>
                  </a:solidFill>
                </a:rPr>
                <a:t>Choose the most optimistic value function in the confidence set and execute its greedy robust policy.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F1F28DA-35CC-1741-17A6-BCC649623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422" y="25976423"/>
              <a:ext cx="32582749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6113F53-1DD1-4B25-9C92-96D18993CB31}"/>
              </a:ext>
            </a:extLst>
          </p:cNvPr>
          <p:cNvGrpSpPr/>
          <p:nvPr/>
        </p:nvGrpSpPr>
        <p:grpSpPr>
          <a:xfrm>
            <a:off x="519422" y="26232972"/>
            <a:ext cx="25736753" cy="6283819"/>
            <a:chOff x="410282" y="26404258"/>
            <a:chExt cx="25736753" cy="6283819"/>
          </a:xfrm>
        </p:grpSpPr>
        <p:sp>
          <p:nvSpPr>
            <p:cNvPr id="216" name="Rounded Rectangle 215">
              <a:extLst>
                <a:ext uri="{FF2B5EF4-FFF2-40B4-BE49-F238E27FC236}">
                  <a16:creationId xmlns:a16="http://schemas.microsoft.com/office/drawing/2014/main" id="{2F5FA343-78AD-BB18-C986-BEBA859F813C}"/>
                </a:ext>
              </a:extLst>
            </p:cNvPr>
            <p:cNvSpPr/>
            <p:nvPr/>
          </p:nvSpPr>
          <p:spPr>
            <a:xfrm>
              <a:off x="410282" y="26404258"/>
              <a:ext cx="25736753" cy="1128741"/>
            </a:xfrm>
            <a:prstGeom prst="roundRect">
              <a:avLst/>
            </a:prstGeom>
            <a:solidFill>
              <a:srgbClr val="211D20">
                <a:alpha val="7882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0" b="1" dirty="0">
                  <a:solidFill>
                    <a:srgbClr val="FFC000"/>
                  </a:solidFill>
                  <a:ea typeface="Apple Symbols" panose="02000000000000000000" pitchFamily="2" charset="-79"/>
                  <a:cs typeface="Apple Symbols" panose="02000000000000000000" pitchFamily="2" charset="-79"/>
                </a:rPr>
                <a:t>Theoretical Guarantee:</a:t>
              </a:r>
              <a:r>
                <a:rPr lang="en-US" sz="5000" b="1" dirty="0">
                  <a:solidFill>
                    <a:schemeClr val="bg1"/>
                  </a:solidFill>
                  <a:ea typeface="Apple Symbols" panose="02000000000000000000" pitchFamily="2" charset="-79"/>
                  <a:cs typeface="Apple Symbols" panose="02000000000000000000" pitchFamily="2" charset="-79"/>
                </a:rPr>
                <a:t> </a:t>
              </a:r>
              <a:r>
                <a:rPr lang="en-US" sz="5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Why this matters?</a:t>
              </a:r>
              <a:endParaRPr lang="en-US" sz="5000" b="1" dirty="0">
                <a:solidFill>
                  <a:schemeClr val="bg1"/>
                </a:solidFill>
                <a:ea typeface="Apple Symbols" panose="02000000000000000000" pitchFamily="2" charset="-79"/>
                <a:cs typeface="Apple Symbols" panose="02000000000000000000" pitchFamily="2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77B72AB9-AB4C-6CF2-ED90-349576469C21}"/>
                    </a:ext>
                  </a:extLst>
                </p:cNvPr>
                <p:cNvSpPr txBox="1"/>
                <p:nvPr/>
              </p:nvSpPr>
              <p:spPr>
                <a:xfrm>
                  <a:off x="519422" y="27643273"/>
                  <a:ext cx="25447505" cy="90877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sz="3000" b="1" dirty="0">
                      <a:solidFill>
                        <a:srgbClr val="0432FF"/>
                      </a:solidFill>
                      <a:latin typeface="Calibri" panose="020F0502020204030204" pitchFamily="34" charset="0"/>
                      <a:ea typeface="Aptos Display" pitchFamily="34" charset="-122"/>
                      <a:cs typeface="Calibri" panose="020F0502020204030204" pitchFamily="34" charset="0"/>
                    </a:rPr>
                    <a:t>Robust Bellman-Eluder (BE) dimension: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3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en-US" sz="3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𝐁𝐄</m:t>
                          </m:r>
                        </m:sub>
                        <m:sup>
                          <m:r>
                            <a:rPr lang="en-US" sz="3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𝐫𝐨𝐛</m:t>
                          </m:r>
                        </m:sup>
                      </m:sSubSup>
                      <m:r>
                        <a:rPr lang="en-US" sz="3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3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𝐝𝐢𝐦</m:t>
                          </m:r>
                        </m:e>
                        <m:sub>
                          <m:r>
                            <a:rPr lang="en-US" sz="3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𝐃𝐄</m:t>
                          </m:r>
                        </m:sub>
                      </m:sSub>
                      <m:d>
                        <m:dPr>
                          <m:ctrlPr>
                            <a:rPr lang="en-US" sz="3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3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𝓘</m:t>
                              </m:r>
                              <m:r>
                                <a:rPr lang="en-US" sz="30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𝓣</m:t>
                                  </m:r>
                                </m:e>
                                <m:sub>
                                  <m:r>
                                    <a:rPr lang="en-US" sz="3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𝐡</m:t>
                                  </m:r>
                                </m:sub>
                                <m:sup>
                                  <m:r>
                                    <a:rPr lang="en-US" sz="3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𝛟</m:t>
                                  </m:r>
                                  <m:r>
                                    <a:rPr lang="en-US" sz="3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0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𝛔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3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𝓕</m:t>
                          </m:r>
                        </m:e>
                      </m:d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</m:oMath>
                  </a14:m>
                  <a:r>
                    <a:rPr lang="en-US" sz="3000" dirty="0">
                      <a:solidFill>
                        <a:srgbClr val="0F172A"/>
                      </a:solidFill>
                      <a:latin typeface="Calibri" panose="020F0502020204030204" pitchFamily="34" charset="0"/>
                      <a:ea typeface="Aptos Display" pitchFamily="34" charset="-122"/>
                      <a:cs typeface="Calibri" panose="020F0502020204030204" pitchFamily="34" charset="0"/>
                    </a:rPr>
                    <a:t> captures the </a:t>
                  </a:r>
                  <a:r>
                    <a:rPr lang="en-US" sz="30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ea typeface="Aptos Display" pitchFamily="34" charset="-122"/>
                      <a:cs typeface="Calibri" panose="020F0502020204030204" pitchFamily="34" charset="0"/>
                    </a:rPr>
                    <a:t>exploration </a:t>
                  </a:r>
                  <a:r>
                    <a:rPr lang="en-US" sz="3000" b="1" dirty="0">
                      <a:latin typeface="Calibri" panose="020F0502020204030204" pitchFamily="34" charset="0"/>
                      <a:ea typeface="Aptos Display" pitchFamily="34" charset="-122"/>
                      <a:cs typeface="Calibri" panose="020F0502020204030204" pitchFamily="34" charset="0"/>
                    </a:rPr>
                    <a:t>complexity</a:t>
                  </a:r>
                  <a:r>
                    <a:rPr lang="en-US" sz="3000" dirty="0">
                      <a:latin typeface="Calibri" panose="020F0502020204030204" pitchFamily="34" charset="0"/>
                      <a:ea typeface="Aptos Display" pitchFamily="34" charset="-122"/>
                      <a:cs typeface="Calibri" panose="020F0502020204030204" pitchFamily="34" charset="0"/>
                    </a:rPr>
                    <a:t> under </a:t>
                  </a:r>
                  <a:r>
                    <a:rPr lang="en-US" sz="3000" b="1" dirty="0">
                      <a:latin typeface="Calibri" panose="020F0502020204030204" pitchFamily="34" charset="0"/>
                      <a:ea typeface="Aptos Display" pitchFamily="34" charset="-122"/>
                      <a:cs typeface="Calibri" panose="020F0502020204030204" pitchFamily="34" charset="0"/>
                    </a:rPr>
                    <a:t>robust Bellman updates</a:t>
                  </a:r>
                  <a:endParaRPr lang="en-US" sz="3000" dirty="0">
                    <a:solidFill>
                      <a:srgbClr val="0F172A"/>
                    </a:solidFill>
                    <a:latin typeface="Calibri" panose="020F0502020204030204" pitchFamily="34" charset="0"/>
                    <a:ea typeface="Aptos Display" pitchFamily="34" charset="-122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77B72AB9-AB4C-6CF2-ED90-349576469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422" y="27643273"/>
                  <a:ext cx="25447505" cy="908775"/>
                </a:xfrm>
                <a:prstGeom prst="rect">
                  <a:avLst/>
                </a:prstGeom>
                <a:blipFill>
                  <a:blip r:embed="rId39"/>
                  <a:stretch>
                    <a:fillRect l="-549" b="-13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E227ED6-8EF7-D189-0B3F-95144C4A796A}"/>
                </a:ext>
              </a:extLst>
            </p:cNvPr>
            <p:cNvGrpSpPr/>
            <p:nvPr/>
          </p:nvGrpSpPr>
          <p:grpSpPr>
            <a:xfrm>
              <a:off x="542683" y="28768832"/>
              <a:ext cx="12319022" cy="3200172"/>
              <a:chOff x="4715697" y="1723587"/>
              <a:chExt cx="7834074" cy="2725697"/>
            </a:xfrm>
          </p:grpSpPr>
          <p:pic>
            <p:nvPicPr>
              <p:cNvPr id="219" name="Picture 218">
                <a:extLst>
                  <a:ext uri="{FF2B5EF4-FFF2-40B4-BE49-F238E27FC236}">
                    <a16:creationId xmlns:a16="http://schemas.microsoft.com/office/drawing/2014/main" id="{CD6AF4F4-A941-E8E8-A199-C4C94BF6A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/>
              <a:srcRect l="1310" r="4685"/>
              <a:stretch>
                <a:fillRect/>
              </a:stretch>
            </p:blipFill>
            <p:spPr>
              <a:xfrm>
                <a:off x="5439052" y="2131333"/>
                <a:ext cx="7073796" cy="1744560"/>
              </a:xfrm>
              <a:prstGeom prst="rect">
                <a:avLst/>
              </a:prstGeom>
            </p:spPr>
          </p:pic>
          <p:sp>
            <p:nvSpPr>
              <p:cNvPr id="220" name="Left Brace 219">
                <a:extLst>
                  <a:ext uri="{FF2B5EF4-FFF2-40B4-BE49-F238E27FC236}">
                    <a16:creationId xmlns:a16="http://schemas.microsoft.com/office/drawing/2014/main" id="{43C7CE57-9E50-8B43-6C10-27FDF2D308DE}"/>
                  </a:ext>
                </a:extLst>
              </p:cNvPr>
              <p:cNvSpPr/>
              <p:nvPr/>
            </p:nvSpPr>
            <p:spPr>
              <a:xfrm rot="16200000">
                <a:off x="7097697" y="2258897"/>
                <a:ext cx="220567" cy="3471996"/>
              </a:xfrm>
              <a:prstGeom prst="leftBrac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TextBox 220">
                    <a:extLst>
                      <a:ext uri="{FF2B5EF4-FFF2-40B4-BE49-F238E27FC236}">
                        <a16:creationId xmlns:a16="http://schemas.microsoft.com/office/drawing/2014/main" id="{7DF7ED8C-1767-2303-B632-7F38F00A48B8}"/>
                      </a:ext>
                    </a:extLst>
                  </p:cNvPr>
                  <p:cNvSpPr txBox="1"/>
                  <p:nvPr/>
                </p:nvSpPr>
                <p:spPr>
                  <a:xfrm>
                    <a:off x="5439052" y="4072072"/>
                    <a:ext cx="3575018" cy="36700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200" b="1" i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New distribution </a:t>
                    </a:r>
                    <a14:m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⟶ </m:t>
                        </m:r>
                      </m:oMath>
                    </a14:m>
                    <a:r>
                      <a:rPr lang="en-US" sz="2200" b="1" i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new  robust Bellman error</a:t>
                    </a:r>
                    <a:endParaRPr lang="en-US" sz="2200" b="1" i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1" name="TextBox 220">
                    <a:extLst>
                      <a:ext uri="{FF2B5EF4-FFF2-40B4-BE49-F238E27FC236}">
                        <a16:creationId xmlns:a16="http://schemas.microsoft.com/office/drawing/2014/main" id="{7DF7ED8C-1767-2303-B632-7F38F00A4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39052" y="4072072"/>
                    <a:ext cx="3575018" cy="367001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l="-1129" t="-14706" r="-903" b="-264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BB2E9481-21B8-0232-5211-E300EF2190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3979" y="3978536"/>
                <a:ext cx="3568869" cy="924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4D3B2D1-A3AA-3681-057D-40405F7C1DA0}"/>
                  </a:ext>
                </a:extLst>
              </p:cNvPr>
              <p:cNvSpPr txBox="1"/>
              <p:nvPr/>
            </p:nvSpPr>
            <p:spPr>
              <a:xfrm>
                <a:off x="5471981" y="1723587"/>
                <a:ext cx="7040867" cy="367001"/>
              </a:xfrm>
              <a:prstGeom prst="rect">
                <a:avLst/>
              </a:prstGeom>
              <a:solidFill>
                <a:srgbClr val="FFFFCD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Policy-induced distributions ( online data)</a:t>
                </a:r>
                <a:endParaRPr lang="en-US" sz="2200" b="1" i="1" dirty="0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D001EAA4-5B05-1104-9A68-3AA5A856CAD9}"/>
                  </a:ext>
                </a:extLst>
              </p:cNvPr>
              <p:cNvSpPr txBox="1"/>
              <p:nvPr/>
            </p:nvSpPr>
            <p:spPr>
              <a:xfrm>
                <a:off x="4715697" y="2547678"/>
                <a:ext cx="756283" cy="1232076"/>
              </a:xfrm>
              <a:prstGeom prst="rect">
                <a:avLst/>
              </a:prstGeom>
              <a:solidFill>
                <a:srgbClr val="FFFFCD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Robust Bellman residual revealed</a:t>
                </a:r>
                <a:endParaRPr lang="en-US" sz="2200" b="1" i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EA3C789E-5F66-F859-37A4-EB1D85770789}"/>
                      </a:ext>
                    </a:extLst>
                  </p:cNvPr>
                  <p:cNvSpPr txBox="1"/>
                  <p:nvPr/>
                </p:nvSpPr>
                <p:spPr>
                  <a:xfrm>
                    <a:off x="8974752" y="4059236"/>
                    <a:ext cx="3575019" cy="39004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2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After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sz="22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𝑩𝑬</m:t>
                            </m:r>
                          </m:sub>
                          <m:sup>
                            <m:r>
                              <a:rPr lang="en-US" sz="22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𝒓𝒐𝒃</m:t>
                            </m:r>
                          </m:sup>
                        </m:sSubSup>
                      </m:oMath>
                    </a14:m>
                    <a:r>
                      <a:rPr lang="en-US" sz="22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: generalization becomes inevitable</a:t>
                    </a:r>
                    <a:endParaRPr lang="en-US" sz="2200" b="1" i="1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EA3C789E-5F66-F859-37A4-EB1D857707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74752" y="4059236"/>
                    <a:ext cx="3575019" cy="390048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t="-2703" b="-270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34B9BA3-E14E-CEA9-7B30-8E24EB270F26}"/>
                </a:ext>
              </a:extLst>
            </p:cNvPr>
            <p:cNvSpPr txBox="1"/>
            <p:nvPr/>
          </p:nvSpPr>
          <p:spPr>
            <a:xfrm>
              <a:off x="820395" y="32195634"/>
              <a:ext cx="12952849" cy="4924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marL="285750" indent="-285750" algn="just">
                <a:buFont typeface="Wingdings" pitchFamily="2" charset="2"/>
                <a:buChar char="n"/>
              </a:pPr>
              <a:r>
                <a:rPr lang="en-US" sz="2600" i="1" dirty="0">
                  <a:latin typeface="Calibri" panose="020F0502020204030204" pitchFamily="34" charset="0"/>
                  <a:cs typeface="Calibri" panose="020F0502020204030204" pitchFamily="34" charset="0"/>
                </a:rPr>
                <a:t>Counts how many </a:t>
              </a:r>
              <a:r>
                <a:rPr lang="en-US" sz="26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policy distributions</a:t>
              </a:r>
              <a:r>
                <a:rPr lang="en-US" sz="2600" i="1" dirty="0">
                  <a:latin typeface="Calibri" panose="020F0502020204030204" pitchFamily="34" charset="0"/>
                  <a:cs typeface="Calibri" panose="020F0502020204030204" pitchFamily="34" charset="0"/>
                </a:rPr>
                <a:t> reveal </a:t>
              </a:r>
              <a:r>
                <a:rPr lang="en-US" sz="2600" b="1" i="1" dirty="0">
                  <a:solidFill>
                    <a:srgbClr val="0432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new, statistically, independent </a:t>
              </a:r>
              <a:r>
                <a:rPr lang="en-US" sz="26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Bellman errors.</a:t>
              </a:r>
              <a:endParaRPr lang="en-US" sz="2600" b="1" i="1" dirty="0">
                <a:latin typeface="Calibri" panose="020F0502020204030204" pitchFamily="34" charset="0"/>
                <a:ea typeface="Aptos Display" pitchFamily="34" charset="-122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E0EB1934-8DD3-A21C-9190-D5B6A2E1002A}"/>
                    </a:ext>
                  </a:extLst>
                </p:cNvPr>
                <p:cNvSpPr txBox="1"/>
                <p:nvPr/>
              </p:nvSpPr>
              <p:spPr>
                <a:xfrm>
                  <a:off x="14398646" y="28729942"/>
                  <a:ext cx="11568281" cy="3958135"/>
                </a:xfrm>
                <a:prstGeom prst="rect">
                  <a:avLst/>
                </a:prstGeom>
                <a:solidFill>
                  <a:srgbClr val="FFFFCD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0432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Why it matters?</a:t>
                  </a:r>
                </a:p>
                <a:p>
                  <a:endParaRPr lang="en-US" sz="12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Smaller</a:t>
                  </a:r>
                  <a:r>
                    <a:rPr lang="en-US" sz="3000" dirty="0">
                      <a:solidFill>
                        <a:srgbClr val="0432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3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BE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3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rob</m:t>
                          </m:r>
                        </m:sup>
                      </m:sSubSup>
                      <m:r>
                        <a:rPr lang="en-US" sz="3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fewer essentially 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different robust Bellman errors.</a:t>
                  </a:r>
                </a:p>
                <a:p>
                  <a:endParaRPr lang="en-US" sz="3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Exploration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scales with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3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BE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3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rob</m:t>
                          </m:r>
                        </m:sup>
                      </m:sSubSup>
                    </m:oMath>
                  </a14:m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not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𝓢</m:t>
                          </m:r>
                        </m:e>
                      </m:d>
                      <m:r>
                        <a:rPr lang="en-US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</m:e>
                      </m:d>
                      <m:r>
                        <a:rPr lang="en-US" sz="3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US" sz="30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sample efficient.</a:t>
                  </a:r>
                </a:p>
                <a:p>
                  <a:endParaRPr lang="en-US" sz="3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First regret guarantee 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for </a:t>
                  </a: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purely online DR-RL 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with </a:t>
                  </a: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general function approximation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</a:t>
                  </a:r>
                  <a:r>
                    <a:rPr lang="en-US" sz="3000" b="1" dirty="0">
                      <a:solidFill>
                        <a:srgbClr val="FF0000"/>
                      </a:solidFill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3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𝐑𝐞𝐠𝐫𝐞𝐭</m:t>
                      </m:r>
                      <m:d>
                        <m:dPr>
                          <m:ctrlPr>
                            <a:rPr lang="en-US" sz="3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</m:d>
                      <m:r>
                        <a:rPr lang="en-US" sz="3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̃"/>
                          <m:ctrlPr>
                            <a:rPr lang="en-US" sz="3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𝐎</m:t>
                          </m:r>
                        </m:e>
                      </m:acc>
                      <m:d>
                        <m:dPr>
                          <m:ctrlPr>
                            <a:rPr lang="en-US" sz="3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3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b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𝐁𝐄</m:t>
                                  </m:r>
                                </m:sub>
                                <m:sup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𝐫𝐨𝐛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𝐇</m:t>
                                  </m:r>
                                </m:e>
                                <m:sup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𝛟</m:t>
                                  </m:r>
                                </m:sub>
                                <m:sup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3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𝛔</m:t>
                                  </m:r>
                                </m:e>
                              </m:d>
                              <m:r>
                                <a:rPr lang="en-US" sz="3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</m:rad>
                          <m:r>
                            <a:rPr lang="en-US" sz="3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3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𝛆</m:t>
                              </m:r>
                            </m:e>
                            <m:sup>
                              <m:r>
                                <a:rPr lang="en-US" sz="30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𝐝𝐮𝐚𝐥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 </a:t>
                  </a:r>
                </a:p>
                <a:p>
                  <a:endParaRPr lang="en-US" sz="3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Recovers near-optimal tabular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and </a:t>
                  </a: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linear 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robust RL </a:t>
                  </a:r>
                  <a:r>
                    <a:rPr lang="en-US" sz="3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guarantees</a:t>
                  </a:r>
                  <a:r>
                    <a:rPr lang="en-US" sz="3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E0EB1934-8DD3-A21C-9190-D5B6A2E10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8646" y="28729942"/>
                  <a:ext cx="11568281" cy="3958135"/>
                </a:xfrm>
                <a:prstGeom prst="rect">
                  <a:avLst/>
                </a:prstGeom>
                <a:blipFill>
                  <a:blip r:embed="rId43"/>
                  <a:stretch>
                    <a:fillRect l="-1535" t="-2236" b="-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6189F483-5985-2BBF-4D6E-3CB8632F2A7E}"/>
              </a:ext>
            </a:extLst>
          </p:cNvPr>
          <p:cNvSpPr/>
          <p:nvPr/>
        </p:nvSpPr>
        <p:spPr>
          <a:xfrm>
            <a:off x="34127654" y="15334477"/>
            <a:ext cx="16544866" cy="1128741"/>
          </a:xfrm>
          <a:prstGeom prst="roundRect">
            <a:avLst/>
          </a:prstGeom>
          <a:solidFill>
            <a:srgbClr val="211D20">
              <a:alpha val="7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solidFill>
                  <a:srgbClr val="FFC000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Experiments:</a:t>
            </a:r>
            <a:r>
              <a:rPr lang="en-US" sz="5000" b="1" dirty="0">
                <a:solidFill>
                  <a:schemeClr val="bg1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 </a:t>
            </a:r>
            <a:r>
              <a:rPr lang="en-US" sz="5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Cartpole</a:t>
            </a:r>
            <a:endParaRPr lang="en-US" sz="5000" b="1" dirty="0">
              <a:solidFill>
                <a:schemeClr val="bg1"/>
              </a:solidFill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CD85213-CFA9-7948-13BA-A314A6B0CB33}"/>
              </a:ext>
            </a:extLst>
          </p:cNvPr>
          <p:cNvSpPr txBox="1"/>
          <p:nvPr/>
        </p:nvSpPr>
        <p:spPr>
          <a:xfrm>
            <a:off x="43817530" y="19530231"/>
            <a:ext cx="655649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400" b="1" dirty="0" err="1"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CartPole</a:t>
            </a:r>
            <a:r>
              <a:rPr lang="en-US" sz="3400" b="1" dirty="0"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 policies </a:t>
            </a:r>
            <a:r>
              <a:rPr lang="en-US" sz="3400" b="1" dirty="0">
                <a:solidFill>
                  <a:srgbClr val="FF0000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trained nominally</a:t>
            </a:r>
            <a:r>
              <a:rPr lang="en-US" sz="3400" b="1" dirty="0"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, then </a:t>
            </a:r>
            <a:r>
              <a:rPr lang="en-US" sz="3400" b="1" dirty="0">
                <a:solidFill>
                  <a:srgbClr val="FF0000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tested </a:t>
            </a:r>
            <a:r>
              <a:rPr lang="en-US" sz="3400" b="1" dirty="0"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under </a:t>
            </a:r>
            <a:r>
              <a:rPr lang="en-US" sz="3400" b="1" dirty="0">
                <a:solidFill>
                  <a:srgbClr val="FF0000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action </a:t>
            </a:r>
            <a:r>
              <a:rPr lang="en-US" sz="3400" b="1" dirty="0"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and </a:t>
            </a:r>
            <a:r>
              <a:rPr lang="en-US" sz="3400" b="1" dirty="0">
                <a:solidFill>
                  <a:srgbClr val="FF0000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dynamics perturbations</a:t>
            </a:r>
            <a:r>
              <a:rPr lang="en-US" sz="3400" b="1" dirty="0"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.</a:t>
            </a:r>
            <a:endParaRPr lang="en-US" sz="3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18386B4-5B1D-B5B2-887E-05308D00D58F}"/>
              </a:ext>
            </a:extLst>
          </p:cNvPr>
          <p:cNvGrpSpPr/>
          <p:nvPr/>
        </p:nvGrpSpPr>
        <p:grpSpPr>
          <a:xfrm>
            <a:off x="36601428" y="21430990"/>
            <a:ext cx="13833165" cy="8824660"/>
            <a:chOff x="5327041" y="441241"/>
            <a:chExt cx="6664764" cy="5816319"/>
          </a:xfrm>
        </p:grpSpPr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EA28A45C-EEAF-1CCA-8307-F19B32D9E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545600" y="441241"/>
              <a:ext cx="3242478" cy="2930379"/>
            </a:xfrm>
            <a:prstGeom prst="rect">
              <a:avLst/>
            </a:prstGeom>
          </p:spPr>
        </p:pic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D8085430-8C56-0D56-F212-DCA3C166D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8750171" y="461921"/>
              <a:ext cx="3241634" cy="2910658"/>
            </a:xfrm>
            <a:prstGeom prst="rect">
              <a:avLst/>
            </a:prstGeom>
          </p:spPr>
        </p:pic>
        <p:pic>
          <p:nvPicPr>
            <p:cNvPr id="242" name="Picture 241">
              <a:extLst>
                <a:ext uri="{FF2B5EF4-FFF2-40B4-BE49-F238E27FC236}">
                  <a16:creationId xmlns:a16="http://schemas.microsoft.com/office/drawing/2014/main" id="{EB6CE977-9A5B-BE47-268B-E959E5446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5545601" y="3284459"/>
              <a:ext cx="3242478" cy="2822285"/>
            </a:xfrm>
            <a:prstGeom prst="rect">
              <a:avLst/>
            </a:prstGeom>
          </p:spPr>
        </p:pic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62F96063-0E5C-43CE-051A-D1E841709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8749309" y="3269785"/>
              <a:ext cx="3242478" cy="2822285"/>
            </a:xfrm>
            <a:prstGeom prst="rect">
              <a:avLst/>
            </a:prstGeom>
          </p:spPr>
        </p:pic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F152B3D-6711-84DF-0046-45D4B800DC53}"/>
                </a:ext>
              </a:extLst>
            </p:cNvPr>
            <p:cNvSpPr txBox="1"/>
            <p:nvPr/>
          </p:nvSpPr>
          <p:spPr>
            <a:xfrm>
              <a:off x="9518020" y="5993848"/>
              <a:ext cx="1971359" cy="263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432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RFL-TV vs. OPROVI-TV (Tabular).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DA503CF7-88B5-EEDF-59CF-99CDBC18EBA5}"/>
                </a:ext>
              </a:extLst>
            </p:cNvPr>
            <p:cNvSpPr txBox="1"/>
            <p:nvPr/>
          </p:nvSpPr>
          <p:spPr>
            <a:xfrm rot="16200000">
              <a:off x="4060329" y="1778360"/>
              <a:ext cx="2760415" cy="222428"/>
            </a:xfrm>
            <a:prstGeom prst="rect">
              <a:avLst/>
            </a:prstGeom>
            <a:solidFill>
              <a:srgbClr val="FFFFCD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Action Perturbation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8FAB023A-EE3E-D4F1-B28C-2B79DE676960}"/>
                </a:ext>
              </a:extLst>
            </p:cNvPr>
            <p:cNvSpPr txBox="1"/>
            <p:nvPr/>
          </p:nvSpPr>
          <p:spPr>
            <a:xfrm rot="16200000">
              <a:off x="4106128" y="4550498"/>
              <a:ext cx="2664256" cy="222429"/>
            </a:xfrm>
            <a:prstGeom prst="rect">
              <a:avLst/>
            </a:prstGeom>
            <a:solidFill>
              <a:srgbClr val="FFFFCD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Force-magnitude Perturbation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B90E77BE-1E92-7B30-1F88-29C27A79F379}"/>
                </a:ext>
              </a:extLst>
            </p:cNvPr>
            <p:cNvSpPr txBox="1"/>
            <p:nvPr/>
          </p:nvSpPr>
          <p:spPr>
            <a:xfrm>
              <a:off x="5918872" y="5993848"/>
              <a:ext cx="2853717" cy="263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432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RFL-TV vs. Functional Approximation (FA) Algorithms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165D5BBD-2BF7-4A1A-147D-6E4A6AEB81C1}"/>
                  </a:ext>
                </a:extLst>
              </p:cNvPr>
              <p:cNvSpPr txBox="1"/>
              <p:nvPr/>
            </p:nvSpPr>
            <p:spPr>
              <a:xfrm>
                <a:off x="34293146" y="16693985"/>
                <a:ext cx="9144000" cy="1415772"/>
              </a:xfrm>
              <a:prstGeom prst="rect">
                <a:avLst/>
              </a:prstGeom>
              <a:solidFill>
                <a:schemeClr val="bg1">
                  <a:alpha val="47059"/>
                </a:schemeClr>
              </a:solidFill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3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Strong robustness under perturbations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Up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2×</m:t>
                    </m:r>
                  </m:oMath>
                </a14:m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higher reward 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than </a:t>
                </a:r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DQN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</a:p>
              <a:p>
                <a:pPr marL="742950" lvl="1" indent="-28575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competitive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tabular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OPROVI-TV.</a:t>
                </a:r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165D5BBD-2BF7-4A1A-147D-6E4A6AEB8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3146" y="16693985"/>
                <a:ext cx="9144000" cy="1415772"/>
              </a:xfrm>
              <a:prstGeom prst="rect">
                <a:avLst/>
              </a:prstGeom>
              <a:blipFill>
                <a:blip r:embed="rId48"/>
                <a:stretch>
                  <a:fillRect l="-1241" t="-3419" b="-8547"/>
                </a:stretch>
              </a:blipFill>
              <a:ln w="571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3335B1AF-58DE-99A2-AB69-49616F04DC31}"/>
                  </a:ext>
                </a:extLst>
              </p:cNvPr>
              <p:cNvSpPr txBox="1"/>
              <p:nvPr/>
            </p:nvSpPr>
            <p:spPr>
              <a:xfrm>
                <a:off x="34276999" y="18276966"/>
                <a:ext cx="9146637" cy="1847088"/>
              </a:xfrm>
              <a:prstGeom prst="rect">
                <a:avLst/>
              </a:prstGeom>
              <a:noFill/>
              <a:ln w="57150">
                <a:solidFill>
                  <a:srgbClr val="0432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3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Stable under severe dynamics shifts</a:t>
                </a:r>
              </a:p>
              <a:p>
                <a:pPr marL="742950" lvl="1" indent="-28575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Robust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even under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−80%</m:t>
                    </m:r>
                    <m:r>
                      <m:rPr>
                        <m:nor/>
                      </m:rPr>
                      <a:rPr lang="en-US" sz="2800" i="1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m:rPr>
                        <m:nor/>
                      </m:rPr>
                      <a:rPr lang="en-US" sz="2800" i="1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⁣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sz="2800" i="1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m:rPr>
                        <m:nor/>
                      </m:rPr>
                      <a:rPr lang="en-US" sz="2800" i="1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⁣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−40%</m:t>
                    </m:r>
                  </m:oMath>
                </a14:m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force perturbations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;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non-robust </a:t>
                </a:r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FA baselines collapse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3335B1AF-58DE-99A2-AB69-49616F04D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6999" y="18276966"/>
                <a:ext cx="9146637" cy="1847088"/>
              </a:xfrm>
              <a:prstGeom prst="rect">
                <a:avLst/>
              </a:prstGeom>
              <a:blipFill>
                <a:blip r:embed="rId49"/>
                <a:stretch>
                  <a:fillRect l="-1241" t="-2667" b="-6000"/>
                </a:stretch>
              </a:blipFill>
              <a:ln w="57150">
                <a:solidFill>
                  <a:srgbClr val="0432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0ABD5868-608D-4D73-D02D-519095F5BDBE}"/>
                  </a:ext>
                </a:extLst>
              </p:cNvPr>
              <p:cNvSpPr txBox="1"/>
              <p:nvPr/>
            </p:nvSpPr>
            <p:spPr>
              <a:xfrm>
                <a:off x="34293146" y="20282329"/>
                <a:ext cx="9144000" cy="984885"/>
              </a:xfrm>
              <a:prstGeom prst="rect">
                <a:avLst/>
              </a:prstGeom>
              <a:noFill/>
              <a:ln w="57150">
                <a:solidFill>
                  <a:srgbClr val="EA881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3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Moderate runtime overhead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Only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∼1.5×</m:t>
                    </m:r>
                  </m:oMath>
                </a14:m>
                <a:r>
                  <a:rPr lang="en-US" sz="28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DQN </a:t>
                </a:r>
                <a:r>
                  <a:rPr lang="en-US" sz="2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despite robust Bellman learning.</a:t>
                </a:r>
              </a:p>
            </p:txBody>
          </p:sp>
        </mc:Choice>
        <mc:Fallback xmlns="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0ABD5868-608D-4D73-D02D-519095F5B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3146" y="20282329"/>
                <a:ext cx="9144000" cy="984885"/>
              </a:xfrm>
              <a:prstGeom prst="rect">
                <a:avLst/>
              </a:prstGeom>
              <a:blipFill>
                <a:blip r:embed="rId50"/>
                <a:stretch>
                  <a:fillRect l="-1241" t="-4819" b="-10843"/>
                </a:stretch>
              </a:blipFill>
              <a:ln w="57150">
                <a:solidFill>
                  <a:srgbClr val="EA881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4F886E8C-E9D1-A90E-8754-F764E4447DCD}"/>
              </a:ext>
            </a:extLst>
          </p:cNvPr>
          <p:cNvSpPr txBox="1"/>
          <p:nvPr/>
        </p:nvSpPr>
        <p:spPr>
          <a:xfrm>
            <a:off x="26762343" y="26255251"/>
            <a:ext cx="9171457" cy="329320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Takeaway: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Robust fitted Bellman learning achieves strong robustness under severe distribution shifts without relying on tabular representations.</a:t>
            </a:r>
          </a:p>
        </p:txBody>
      </p:sp>
      <p:sp>
        <p:nvSpPr>
          <p:cNvPr id="259" name="Rounded Rectangle 258">
            <a:extLst>
              <a:ext uri="{FF2B5EF4-FFF2-40B4-BE49-F238E27FC236}">
                <a16:creationId xmlns:a16="http://schemas.microsoft.com/office/drawing/2014/main" id="{779ABD0F-7655-2039-917B-AEDA69508643}"/>
              </a:ext>
            </a:extLst>
          </p:cNvPr>
          <p:cNvSpPr/>
          <p:nvPr/>
        </p:nvSpPr>
        <p:spPr>
          <a:xfrm>
            <a:off x="32690135" y="30444454"/>
            <a:ext cx="15285347" cy="790736"/>
          </a:xfrm>
          <a:prstGeom prst="roundRect">
            <a:avLst/>
          </a:prstGeom>
          <a:solidFill>
            <a:srgbClr val="4F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References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1D53BE09-B5BF-31E7-B797-F16F656CB43B}"/>
              </a:ext>
            </a:extLst>
          </p:cNvPr>
          <p:cNvSpPr txBox="1"/>
          <p:nvPr/>
        </p:nvSpPr>
        <p:spPr>
          <a:xfrm>
            <a:off x="48198538" y="31681095"/>
            <a:ext cx="25299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Poster Q&amp;A &amp; Follow-Up: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0432FF"/>
                </a:solidFill>
              </a:rPr>
              <a:t>https://</a:t>
            </a:r>
            <a:r>
              <a:rPr lang="en-US" sz="1600" b="1" dirty="0" err="1">
                <a:solidFill>
                  <a:srgbClr val="0432FF"/>
                </a:solidFill>
              </a:rPr>
              <a:t>forms.gle</a:t>
            </a:r>
            <a:r>
              <a:rPr lang="en-US" sz="1600" b="1" dirty="0">
                <a:solidFill>
                  <a:srgbClr val="0432FF"/>
                </a:solidFill>
              </a:rPr>
              <a:t>/FRMRDh4Toj2GY5wC7</a:t>
            </a:r>
          </a:p>
        </p:txBody>
      </p: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3EB118B8-6642-FE16-A6A5-A4DA3F3C2A34}"/>
              </a:ext>
            </a:extLst>
          </p:cNvPr>
          <p:cNvSpPr/>
          <p:nvPr/>
        </p:nvSpPr>
        <p:spPr>
          <a:xfrm>
            <a:off x="26701469" y="30444454"/>
            <a:ext cx="5592075" cy="777215"/>
          </a:xfrm>
          <a:prstGeom prst="roundRect">
            <a:avLst/>
          </a:prstGeom>
          <a:solidFill>
            <a:srgbClr val="211D20">
              <a:alpha val="7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C000"/>
                </a:solidFill>
                <a:ea typeface="Apple Symbols" panose="02000000000000000000" pitchFamily="2" charset="-79"/>
                <a:cs typeface="Apple Symbols" panose="02000000000000000000" pitchFamily="2" charset="-79"/>
              </a:rPr>
              <a:t>Acknowledgements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66E849AB-0F95-6B15-B14A-A5A7815142D9}"/>
              </a:ext>
            </a:extLst>
          </p:cNvPr>
          <p:cNvSpPr txBox="1"/>
          <p:nvPr/>
        </p:nvSpPr>
        <p:spPr>
          <a:xfrm>
            <a:off x="26701469" y="31221670"/>
            <a:ext cx="559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This work was supported by DARPA under Agreement No. HR0011-24-9-0427 and NSF under Award CCF-2106339.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FB4C56C-55AE-82FC-E029-86570017153D}"/>
              </a:ext>
            </a:extLst>
          </p:cNvPr>
          <p:cNvSpPr txBox="1"/>
          <p:nvPr/>
        </p:nvSpPr>
        <p:spPr>
          <a:xfrm>
            <a:off x="32690135" y="31321333"/>
            <a:ext cx="152853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14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Shi, L.; and Chi, Y. 2024. Distributionally Robust Model-Based Offline Reinforcement Learning with Near-Optimal Sample Complexity. Journal of Machine Learning Research, 25(200): 1–91.</a:t>
            </a: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14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He, Y.; Liu, Z.; Wang, W.; and Xu, P. 2025. Sample Complexity of Distributionally Robust Off-Dynamics Reinforcement Learning with Online Interaction. In Forty-second International Conference on Machine Learning.</a:t>
            </a: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14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Jin, C., Liu, Q., and </a:t>
            </a:r>
            <a:r>
              <a:rPr lang="en-US" sz="1400" i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Miryoosefi</a:t>
            </a:r>
            <a:r>
              <a:rPr lang="en-US" sz="14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 Bellman Eluder Dimension: New Rich Classes of RL Problems, and Sample-Efficient Algorithms. Advances in neural information processing systems, 34:13406–13418, 2021.</a:t>
            </a: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1400" i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Panaganti</a:t>
            </a:r>
            <a:r>
              <a:rPr lang="en-US" sz="14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K., Xu, Z., Kalathil, D., and </a:t>
            </a:r>
            <a:r>
              <a:rPr lang="en-US" sz="1400" i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Ghavamzadeh</a:t>
            </a:r>
            <a:r>
              <a:rPr lang="en-US" sz="14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M. Robust Reinforcement Learning using Offline Data. Advances in neural information processing systems, 35:32211–32224, 2022.</a:t>
            </a:r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E9FCC47-1D6C-9C65-66C6-82CFA7860E9F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3938270" y="16692307"/>
            <a:ext cx="3370443" cy="2722735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FF6581E9-E3B6-CCB0-93FB-E661D7E7A3B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7138831" y="16692308"/>
            <a:ext cx="3370774" cy="272273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63220F3-C002-F085-2D82-732705AEA4F0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8770088" y="30371315"/>
            <a:ext cx="1386883" cy="127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3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</TotalTime>
  <Words>1053</Words>
  <Application>Microsoft Macintosh PowerPoint</Application>
  <PresentationFormat>Custom</PresentationFormat>
  <Paragraphs>172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Apple Symbols</vt:lpstr>
      <vt:lpstr>Aptos</vt:lpstr>
      <vt:lpstr>Aptos Display</vt:lpstr>
      <vt:lpstr>Arial</vt:lpstr>
      <vt:lpstr>Calibri</vt:lpstr>
      <vt:lpstr>Cambria Math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Debamita Ghosh</dc:creator>
  <cp:lastModifiedBy>Debamita Ghosh</cp:lastModifiedBy>
  <cp:revision>15</cp:revision>
  <dcterms:created xsi:type="dcterms:W3CDTF">2026-05-21T19:01:06Z</dcterms:created>
  <dcterms:modified xsi:type="dcterms:W3CDTF">2026-05-26T21:42:29Z</dcterms:modified>
</cp:coreProperties>
</file>